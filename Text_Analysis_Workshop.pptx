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78" r:id="rId3"/>
    <p:sldId id="279" r:id="rId4"/>
    <p:sldId id="257" r:id="rId5"/>
    <p:sldId id="259" r:id="rId6"/>
    <p:sldId id="260" r:id="rId7"/>
    <p:sldId id="261" r:id="rId8"/>
    <p:sldId id="263" r:id="rId9"/>
    <p:sldId id="264" r:id="rId10"/>
    <p:sldId id="265" r:id="rId11"/>
    <p:sldId id="266" r:id="rId12"/>
    <p:sldId id="268" r:id="rId13"/>
    <p:sldId id="269" r:id="rId14"/>
    <p:sldId id="270" r:id="rId15"/>
    <p:sldId id="271" r:id="rId16"/>
    <p:sldId id="272" r:id="rId17"/>
    <p:sldId id="281" r:id="rId18"/>
    <p:sldId id="273" r:id="rId19"/>
    <p:sldId id="274" r:id="rId20"/>
    <p:sldId id="275" r:id="rId21"/>
    <p:sldId id="258" r:id="rId22"/>
    <p:sldId id="287" r:id="rId23"/>
    <p:sldId id="282" r:id="rId24"/>
    <p:sldId id="284" r:id="rId25"/>
    <p:sldId id="285" r:id="rId26"/>
    <p:sldId id="286"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EB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403"/>
    <p:restoredTop sz="94545"/>
  </p:normalViewPr>
  <p:slideViewPr>
    <p:cSldViewPr snapToGrid="0" snapToObjects="1">
      <p:cViewPr>
        <p:scale>
          <a:sx n="85" d="100"/>
          <a:sy n="85" d="100"/>
        </p:scale>
        <p:origin x="736" y="14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3740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coming to today’s text analysis workshop!</a:t>
            </a:r>
          </a:p>
          <a:p>
            <a:r>
              <a:rPr lang="en-US" dirty="0"/>
              <a:t>My name is Hyeseon, and I work with </a:t>
            </a:r>
            <a:r>
              <a:rPr lang="en-US" dirty="0" err="1"/>
              <a:t>StatLab</a:t>
            </a:r>
            <a:r>
              <a:rPr lang="en-US" dirty="0"/>
              <a:t> at the UVA Library. </a:t>
            </a:r>
            <a:r>
              <a:rPr lang="en-US" dirty="0" err="1"/>
              <a:t>StatLab</a:t>
            </a:r>
            <a:r>
              <a:rPr lang="en-US" dirty="0"/>
              <a:t> is a statistical support team within the Research Data Services division of the UVA Library. We provide free statistical consulting and workshops, so please feel free to contact us if you need any help.</a:t>
            </a:r>
          </a:p>
          <a:p>
            <a:r>
              <a:rPr lang="en-US" dirty="0"/>
              <a:t>Our team has four people, including me and Clay, who will be helping me with today’s workshop, as well as two PhD student associates.</a:t>
            </a:r>
          </a:p>
          <a:p>
            <a:r>
              <a:rPr lang="en-US" dirty="0"/>
              <a:t>Our offices are located in Brown Library. If you enter through the main entrance and walk through this beautiful mural area, turn right and you’ll find us in Rooms 152 and 153.</a:t>
            </a:r>
          </a:p>
          <a:p>
            <a:r>
              <a:rPr lang="en-US" dirty="0"/>
              <a:t> </a:t>
            </a:r>
          </a:p>
          <a:p>
            <a:endParaRPr lang="en-US" dirty="0"/>
          </a:p>
        </p:txBody>
      </p:sp>
      <p:sp>
        <p:nvSpPr>
          <p:cNvPr id="4" name="Slide Number Placeholder 3"/>
          <p:cNvSpPr>
            <a:spLocks noGrp="1"/>
          </p:cNvSpPr>
          <p:nvPr>
            <p:ph type="sldNum" sz="quarter" idx="5"/>
          </p:nvPr>
        </p:nvSpPr>
        <p:spPr/>
        <p:txBody>
          <a:bodyPr/>
          <a:lstStyle/>
          <a:p>
            <a:fld id="{784AF73A-8C1D-4050-A86D-EFB58FBA4151}" type="slidenum">
              <a:rPr lang="en-US" smtClean="0"/>
              <a:t>2</a:t>
            </a:fld>
            <a:endParaRPr lang="en-US"/>
          </a:p>
        </p:txBody>
      </p:sp>
    </p:spTree>
    <p:extLst>
      <p:ext uri="{BB962C8B-B14F-4D97-AF65-F5344CB8AC3E}">
        <p14:creationId xmlns:p14="http://schemas.microsoft.com/office/powerpoint/2010/main" val="3079549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95819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2818A-4F9E-43CE-BA2E-DFEC8132A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C7B006-DCB2-0FF7-D4F2-06258AC928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60BC9F-65FE-0DBC-6703-0B2D35BB10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BC9CA6-80F9-2863-9885-39013D4EF477}"/>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4176765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158679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90000"/>
              </a:lnSpc>
              <a:spcBef>
                <a:spcPts val="1000"/>
              </a:spcBef>
              <a:buFont typeface="Arial,Sans-Serif"/>
              <a:buChar char="•"/>
            </a:pPr>
            <a:endParaRPr lang="en-US">
              <a:ea typeface="Calibri"/>
              <a:cs typeface="Calibri"/>
            </a:endParaRPr>
          </a:p>
          <a:p>
            <a:pPr marL="285750" indent="-285750">
              <a:lnSpc>
                <a:spcPct val="90000"/>
              </a:lnSpc>
              <a:spcBef>
                <a:spcPts val="1000"/>
              </a:spcBef>
              <a:buFont typeface="Arial,Sans-Serif"/>
              <a:buChar char="•"/>
            </a:pPr>
            <a:r>
              <a:rPr lang="en-US"/>
              <a:t>We help researchers across </a:t>
            </a:r>
            <a:r>
              <a:rPr lang="en-US" i="1"/>
              <a:t>every</a:t>
            </a:r>
            <a:r>
              <a:rPr lang="en-US"/>
              <a:t> department pick the right analysis, run it correctly, and make sense of their results. </a:t>
            </a:r>
          </a:p>
          <a:p>
            <a:pPr marL="285750" indent="-285750">
              <a:lnSpc>
                <a:spcPct val="90000"/>
              </a:lnSpc>
              <a:spcBef>
                <a:spcPts val="1000"/>
              </a:spcBef>
              <a:buFont typeface="Arial,Sans-Serif"/>
              <a:buChar char="•"/>
            </a:pPr>
            <a:r>
              <a:rPr lang="en-US"/>
              <a:t>It's free, it's for students and faculty, and it's especially useful for independent research such as class projects, independent studies, and theses. You can come to us in person, over Zoom, or by email.</a:t>
            </a:r>
            <a:endParaRPr lang="en-US">
              <a:ea typeface="Calibri"/>
              <a:cs typeface="Calibri"/>
            </a:endParaRPr>
          </a:p>
          <a:p>
            <a:pPr marL="285750" indent="-285750">
              <a:lnSpc>
                <a:spcPct val="90000"/>
              </a:lnSpc>
              <a:spcBef>
                <a:spcPts val="1000"/>
              </a:spcBef>
              <a:buFont typeface="Arial,Sans-Serif"/>
              <a:buChar char="•"/>
            </a:pPr>
            <a:r>
              <a:rPr lang="en-US"/>
              <a:t>A lot of people don't know we exist — so consider this part public service announcement. Whatever your field, if you hit a statistics wall in your research, we're a resource you already have.</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784AF73A-8C1D-4050-A86D-EFB58FBA4151}" type="slidenum">
              <a:t>21</a:t>
            </a:fld>
            <a:endParaRPr lang="en-US"/>
          </a:p>
        </p:txBody>
      </p:sp>
    </p:spTree>
    <p:extLst>
      <p:ext uri="{BB962C8B-B14F-4D97-AF65-F5344CB8AC3E}">
        <p14:creationId xmlns:p14="http://schemas.microsoft.com/office/powerpoint/2010/main" val="4246591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80446FA-F75A-A949-B964-F24A094AA3BB}" type="datetime1">
              <a:rPr lang="en-US" smtClean="0"/>
              <a:t>9/15/26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2778665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A2CEDE-2AB4-4FB8-9551-E0AA4222B1A3}" type="datetimeFigureOut">
              <a:rPr lang="en-US" smtClean="0"/>
              <a:pPr/>
              <a:t>9/15/26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583327039"/>
      </p:ext>
    </p:extLst>
  </p:cSld>
  <p:clrMapOvr>
    <a:masterClrMapping/>
  </p:clrMapOvr>
  <p:hf hdr="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virginia.service-now.com/its?id=itsweb_kb_article&amp;sys_id=dbe41947dbe3f91066d98f38139619db"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virginia.service-now.com/its?id=itsweb_kb_article&amp;sys_id=8a0050d847fac610bb2b9c7b116d4317"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mailto:statlab@virginia.edu"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lumMod val="95000"/>
          </a:schemeClr>
        </a:solidFill>
        <a:effectLst/>
      </p:bgPr>
    </p:bg>
    <p:spTree>
      <p:nvGrpSpPr>
        <p:cNvPr id="1" name=""/>
        <p:cNvGrpSpPr/>
        <p:nvPr/>
      </p:nvGrpSpPr>
      <p:grpSpPr>
        <a:xfrm>
          <a:off x="0" y="0"/>
          <a:ext cx="0" cy="0"/>
          <a:chOff x="0" y="0"/>
          <a:chExt cx="0" cy="0"/>
        </a:xfrm>
      </p:grpSpPr>
      <p:sp>
        <p:nvSpPr>
          <p:cNvPr id="2" name="Text 0"/>
          <p:cNvSpPr txBox="1"/>
          <p:nvPr/>
        </p:nvSpPr>
        <p:spPr>
          <a:xfrm>
            <a:off x="731520" y="2194560"/>
            <a:ext cx="10698480" cy="1097280"/>
          </a:xfrm>
          <a:prstGeom prst="rect">
            <a:avLst/>
          </a:prstGeom>
          <a:noFill/>
          <a:ln/>
        </p:spPr>
        <p:txBody>
          <a:bodyPr wrap="square" lIns="0" tIns="0" rIns="0" bIns="0" rtlCol="0" anchor="ctr"/>
          <a:lstStyle/>
          <a:p>
            <a:pPr marL="0" indent="0">
              <a:buNone/>
            </a:pPr>
            <a:r>
              <a:rPr lang="en-US" sz="4800" b="1" dirty="0">
                <a:solidFill>
                  <a:srgbClr val="1A1A1A"/>
                </a:solidFill>
                <a:latin typeface="+mj-lt"/>
                <a:ea typeface="Calibri" pitchFamily="34" charset="-122"/>
                <a:cs typeface="Calibri" pitchFamily="34" charset="-120"/>
              </a:rPr>
              <a:t>Text Analysis with R: </a:t>
            </a:r>
          </a:p>
          <a:p>
            <a:pPr marL="0" indent="0">
              <a:buNone/>
            </a:pPr>
            <a:r>
              <a:rPr lang="en-US" sz="4000" dirty="0">
                <a:solidFill>
                  <a:schemeClr val="bg2">
                    <a:lumMod val="49000"/>
                  </a:schemeClr>
                </a:solidFill>
                <a:latin typeface="+mj-lt"/>
              </a:rPr>
              <a:t>	From raw data to AI assistant insights</a:t>
            </a:r>
            <a:endParaRPr lang="en-US" sz="4000" dirty="0">
              <a:latin typeface="+mj-lt"/>
            </a:endParaRPr>
          </a:p>
        </p:txBody>
      </p:sp>
      <p:sp>
        <p:nvSpPr>
          <p:cNvPr id="4" name="Text 2"/>
          <p:cNvSpPr txBox="1"/>
          <p:nvPr/>
        </p:nvSpPr>
        <p:spPr>
          <a:xfrm>
            <a:off x="1275907" y="5633129"/>
            <a:ext cx="9027042" cy="308344"/>
          </a:xfrm>
          <a:prstGeom prst="rect">
            <a:avLst/>
          </a:prstGeom>
          <a:noFill/>
          <a:ln/>
        </p:spPr>
        <p:txBody>
          <a:bodyPr wrap="square" lIns="0" tIns="0" rIns="0" bIns="0" rtlCol="0" anchor="ctr"/>
          <a:lstStyle/>
          <a:p>
            <a:pPr lvl="1" algn="r"/>
            <a:r>
              <a:rPr lang="en-US" sz="1300" dirty="0">
                <a:solidFill>
                  <a:schemeClr val="tx1">
                    <a:lumMod val="65000"/>
                    <a:lumOff val="35000"/>
                  </a:schemeClr>
                </a:solidFill>
                <a:latin typeface="Calibri" pitchFamily="34" charset="0"/>
                <a:ea typeface="Calibri" pitchFamily="34" charset="-122"/>
                <a:cs typeface="Calibri" pitchFamily="34" charset="-120"/>
              </a:rPr>
              <a:t> </a:t>
            </a:r>
            <a:r>
              <a:rPr lang="en-US" sz="3200" dirty="0">
                <a:solidFill>
                  <a:schemeClr val="tx1">
                    <a:lumMod val="65000"/>
                    <a:lumOff val="35000"/>
                  </a:schemeClr>
                </a:solidFill>
                <a:latin typeface="Calibri" pitchFamily="34" charset="0"/>
                <a:ea typeface="Calibri" pitchFamily="34" charset="-122"/>
                <a:cs typeface="Calibri" pitchFamily="34" charset="-120"/>
              </a:rPr>
              <a:t>Hyeseon Seo   |   UVA Library </a:t>
            </a:r>
            <a:endParaRPr lang="en-US" sz="3200" dirty="0">
              <a:solidFill>
                <a:schemeClr val="tx1">
                  <a:lumMod val="65000"/>
                  <a:lumOff val="3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5E409EC9-9FA2-73C3-A1AB-C6286346441D}"/>
              </a:ext>
            </a:extLst>
          </p:cNvPr>
          <p:cNvSpPr txBox="1"/>
          <p:nvPr/>
        </p:nvSpPr>
        <p:spPr>
          <a:xfrm>
            <a:off x="734383" y="704815"/>
            <a:ext cx="2902836" cy="1107996"/>
          </a:xfrm>
          <a:prstGeom prst="rect">
            <a:avLst/>
          </a:prstGeom>
          <a:noFill/>
        </p:spPr>
        <p:txBody>
          <a:bodyPr wrap="square" rtlCol="0">
            <a:spAutoFit/>
          </a:bodyPr>
          <a:lstStyle/>
          <a:p>
            <a:r>
              <a:rPr lang="en-US" sz="6600" b="1" dirty="0" err="1">
                <a:solidFill>
                  <a:schemeClr val="bg1">
                    <a:lumMod val="65000"/>
                  </a:schemeClr>
                </a:solidFill>
                <a:latin typeface="+mj-lt"/>
              </a:rPr>
              <a:t>StatLab</a:t>
            </a:r>
            <a:endParaRPr lang="en-US" sz="6600" b="1" dirty="0">
              <a:solidFill>
                <a:schemeClr val="bg1">
                  <a:lumMod val="65000"/>
                </a:schemeClr>
              </a:solidFill>
              <a:latin typeface="+mj-lt"/>
            </a:endParaRPr>
          </a:p>
        </p:txBody>
      </p:sp>
      <p:pic>
        <p:nvPicPr>
          <p:cNvPr id="18" name="Picture 17">
            <a:extLst>
              <a:ext uri="{FF2B5EF4-FFF2-40B4-BE49-F238E27FC236}">
                <a16:creationId xmlns:a16="http://schemas.microsoft.com/office/drawing/2014/main" id="{53C11CD1-4CFC-F493-4A65-3275EBA1CF17}"/>
              </a:ext>
            </a:extLst>
          </p:cNvPr>
          <p:cNvPicPr>
            <a:picLocks noChangeAspect="1"/>
          </p:cNvPicPr>
          <p:nvPr/>
        </p:nvPicPr>
        <p:blipFill>
          <a:blip r:embed="rId3">
            <a:extLst>
              <a:ext uri="{28A0092B-C50C-407E-A947-70E740481C1C}">
                <a14:useLocalDpi xmlns:a14="http://schemas.microsoft.com/office/drawing/2010/main" val="0"/>
              </a:ext>
            </a:extLst>
          </a:blip>
          <a:srcRect r="51373" b="4222"/>
          <a:stretch>
            <a:fillRect/>
          </a:stretch>
        </p:blipFill>
        <p:spPr>
          <a:xfrm>
            <a:off x="9011230" y="2027139"/>
            <a:ext cx="2922267" cy="4148057"/>
          </a:xfrm>
          <a:prstGeom prst="rect">
            <a:avLst/>
          </a:prstGeom>
        </p:spPr>
      </p:pic>
      <p:pic>
        <p:nvPicPr>
          <p:cNvPr id="13" name="Picture 12">
            <a:extLst>
              <a:ext uri="{FF2B5EF4-FFF2-40B4-BE49-F238E27FC236}">
                <a16:creationId xmlns:a16="http://schemas.microsoft.com/office/drawing/2014/main" id="{0972537D-075D-1D84-737C-1BC568DCCA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6620" y="2048068"/>
            <a:ext cx="5279331" cy="3597285"/>
          </a:xfrm>
          <a:prstGeom prst="rect">
            <a:avLst/>
          </a:prstGeom>
        </p:spPr>
      </p:pic>
      <p:sp>
        <p:nvSpPr>
          <p:cNvPr id="14" name="Title 1">
            <a:extLst>
              <a:ext uri="{FF2B5EF4-FFF2-40B4-BE49-F238E27FC236}">
                <a16:creationId xmlns:a16="http://schemas.microsoft.com/office/drawing/2014/main" id="{01474CD2-8857-3D03-9273-A98105FD81C6}"/>
              </a:ext>
            </a:extLst>
          </p:cNvPr>
          <p:cNvSpPr txBox="1">
            <a:spLocks/>
          </p:cNvSpPr>
          <p:nvPr/>
        </p:nvSpPr>
        <p:spPr>
          <a:xfrm>
            <a:off x="283875" y="5755114"/>
            <a:ext cx="5279330" cy="615327"/>
          </a:xfrm>
          <a:prstGeom prst="rect">
            <a:avLst/>
          </a:prstGeom>
          <a:noFill/>
        </p:spPr>
        <p:txBody>
          <a:bodyPr>
            <a:normAutofit fontScale="25000" lnSpcReduction="20000"/>
          </a:bodyPr>
          <a:lst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a:lstStyle>
          <a:p>
            <a:pPr>
              <a:lnSpc>
                <a:spcPct val="120000"/>
              </a:lnSpc>
            </a:pPr>
            <a:r>
              <a:rPr lang="en-US" sz="12800" b="1" dirty="0">
                <a:solidFill>
                  <a:schemeClr val="bg1">
                    <a:lumMod val="65000"/>
                  </a:schemeClr>
                </a:solidFill>
              </a:rPr>
              <a:t>Our Location </a:t>
            </a:r>
            <a:r>
              <a:rPr lang="en-US" sz="16000" b="1" dirty="0">
                <a:solidFill>
                  <a:schemeClr val="bg1"/>
                </a:solidFill>
              </a:rPr>
              <a:t>Brown Library</a:t>
            </a:r>
            <a:br>
              <a:rPr lang="en-US" sz="9600" dirty="0"/>
            </a:br>
            <a:endParaRPr lang="en-US" sz="9600" dirty="0"/>
          </a:p>
        </p:txBody>
      </p:sp>
      <p:pic>
        <p:nvPicPr>
          <p:cNvPr id="22" name="Picture 21">
            <a:extLst>
              <a:ext uri="{FF2B5EF4-FFF2-40B4-BE49-F238E27FC236}">
                <a16:creationId xmlns:a16="http://schemas.microsoft.com/office/drawing/2014/main" id="{FD1C64D3-179A-3735-DFCD-14A672A539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63204" y="2027139"/>
            <a:ext cx="3390772" cy="4148058"/>
          </a:xfrm>
          <a:prstGeom prst="rect">
            <a:avLst/>
          </a:prstGeom>
        </p:spPr>
      </p:pic>
      <p:sp>
        <p:nvSpPr>
          <p:cNvPr id="24" name="Up Arrow 23">
            <a:extLst>
              <a:ext uri="{FF2B5EF4-FFF2-40B4-BE49-F238E27FC236}">
                <a16:creationId xmlns:a16="http://schemas.microsoft.com/office/drawing/2014/main" id="{4C8A6EE9-7335-4641-7D45-352E74B5F770}"/>
              </a:ext>
            </a:extLst>
          </p:cNvPr>
          <p:cNvSpPr/>
          <p:nvPr/>
        </p:nvSpPr>
        <p:spPr>
          <a:xfrm rot="7539389">
            <a:off x="9609747" y="1952009"/>
            <a:ext cx="675892" cy="1111203"/>
          </a:xfrm>
          <a:custGeom>
            <a:avLst/>
            <a:gdLst>
              <a:gd name="csX0" fmla="*/ 0 w 675892"/>
              <a:gd name="csY0" fmla="*/ 337946 h 1111203"/>
              <a:gd name="csX1" fmla="*/ 337946 w 675892"/>
              <a:gd name="csY1" fmla="*/ 0 h 1111203"/>
              <a:gd name="csX2" fmla="*/ 675892 w 675892"/>
              <a:gd name="csY2" fmla="*/ 337946 h 1111203"/>
              <a:gd name="csX3" fmla="*/ 476014 w 675892"/>
              <a:gd name="csY3" fmla="*/ 337946 h 1111203"/>
              <a:gd name="csX4" fmla="*/ 476014 w 675892"/>
              <a:gd name="csY4" fmla="*/ 1111203 h 1111203"/>
              <a:gd name="csX5" fmla="*/ 199878 w 675892"/>
              <a:gd name="csY5" fmla="*/ 1111203 h 1111203"/>
              <a:gd name="csX6" fmla="*/ 199878 w 675892"/>
              <a:gd name="csY6" fmla="*/ 337946 h 1111203"/>
              <a:gd name="csX7" fmla="*/ 0 w 675892"/>
              <a:gd name="csY7" fmla="*/ 337946 h 1111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75892" h="1111203" fill="none" extrusionOk="0">
                <a:moveTo>
                  <a:pt x="0" y="337946"/>
                </a:moveTo>
                <a:cubicBezTo>
                  <a:pt x="147278" y="232322"/>
                  <a:pt x="201257" y="173856"/>
                  <a:pt x="337946" y="0"/>
                </a:cubicBezTo>
                <a:cubicBezTo>
                  <a:pt x="448349" y="94134"/>
                  <a:pt x="527947" y="195468"/>
                  <a:pt x="675892" y="337946"/>
                </a:cubicBezTo>
                <a:cubicBezTo>
                  <a:pt x="614237" y="342934"/>
                  <a:pt x="509325" y="348279"/>
                  <a:pt x="476014" y="337946"/>
                </a:cubicBezTo>
                <a:cubicBezTo>
                  <a:pt x="532168" y="577290"/>
                  <a:pt x="446560" y="830298"/>
                  <a:pt x="476014" y="1111203"/>
                </a:cubicBezTo>
                <a:cubicBezTo>
                  <a:pt x="434154" y="1114983"/>
                  <a:pt x="323175" y="1104989"/>
                  <a:pt x="199878" y="1111203"/>
                </a:cubicBezTo>
                <a:cubicBezTo>
                  <a:pt x="179892" y="841891"/>
                  <a:pt x="197250" y="521513"/>
                  <a:pt x="199878" y="337946"/>
                </a:cubicBezTo>
                <a:cubicBezTo>
                  <a:pt x="164678" y="355699"/>
                  <a:pt x="68962" y="330094"/>
                  <a:pt x="0" y="337946"/>
                </a:cubicBezTo>
                <a:close/>
              </a:path>
              <a:path w="675892" h="1111203" stroke="0" extrusionOk="0">
                <a:moveTo>
                  <a:pt x="0" y="337946"/>
                </a:moveTo>
                <a:cubicBezTo>
                  <a:pt x="45824" y="249586"/>
                  <a:pt x="250807" y="34733"/>
                  <a:pt x="337946" y="0"/>
                </a:cubicBezTo>
                <a:cubicBezTo>
                  <a:pt x="364043" y="73087"/>
                  <a:pt x="534416" y="238529"/>
                  <a:pt x="675892" y="337946"/>
                </a:cubicBezTo>
                <a:cubicBezTo>
                  <a:pt x="597746" y="326247"/>
                  <a:pt x="545848" y="355807"/>
                  <a:pt x="476014" y="337946"/>
                </a:cubicBezTo>
                <a:cubicBezTo>
                  <a:pt x="433950" y="619337"/>
                  <a:pt x="516863" y="891668"/>
                  <a:pt x="476014" y="1111203"/>
                </a:cubicBezTo>
                <a:cubicBezTo>
                  <a:pt x="387820" y="1095826"/>
                  <a:pt x="288018" y="1125032"/>
                  <a:pt x="199878" y="1111203"/>
                </a:cubicBezTo>
                <a:cubicBezTo>
                  <a:pt x="143929" y="1007145"/>
                  <a:pt x="142154" y="474858"/>
                  <a:pt x="199878" y="337946"/>
                </a:cubicBezTo>
                <a:cubicBezTo>
                  <a:pt x="109811" y="350953"/>
                  <a:pt x="63774" y="347423"/>
                  <a:pt x="0" y="337946"/>
                </a:cubicBezTo>
                <a:close/>
              </a:path>
            </a:pathLst>
          </a:custGeom>
          <a:solidFill>
            <a:schemeClr val="accent4">
              <a:lumMod val="75000"/>
            </a:schemeClr>
          </a:solidFill>
          <a:ln w="38100">
            <a:solidFill>
              <a:schemeClr val="bg1"/>
            </a:solidFill>
            <a:prstDash val="solid"/>
            <a:extLst>
              <a:ext uri="{C807C97D-BFC1-408E-A445-0C87EB9F89A2}">
                <ask:lineSketchStyleProps xmlns:ask="http://schemas.microsoft.com/office/drawing/2018/sketchyshapes" sd="1219033472">
                  <a:prstGeom prst="upArrow">
                    <a:avLst>
                      <a:gd name="adj1" fmla="val 40855"/>
                      <a:gd name="adj2" fmla="val 50000"/>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F5EE200-2293-1735-B90B-CDB745DACC66}"/>
              </a:ext>
            </a:extLst>
          </p:cNvPr>
          <p:cNvSpPr txBox="1"/>
          <p:nvPr/>
        </p:nvSpPr>
        <p:spPr>
          <a:xfrm>
            <a:off x="5686903" y="5755114"/>
            <a:ext cx="3143374" cy="369332"/>
          </a:xfrm>
          <a:prstGeom prst="rect">
            <a:avLst/>
          </a:prstGeom>
          <a:noFill/>
          <a:ln>
            <a:noFill/>
          </a:ln>
        </p:spPr>
        <p:txBody>
          <a:bodyPr wrap="square" rtlCol="0">
            <a:spAutoFit/>
          </a:bodyPr>
          <a:lstStyle/>
          <a:p>
            <a:r>
              <a:rPr lang="en-US" b="1" dirty="0">
                <a:solidFill>
                  <a:schemeClr val="tx1">
                    <a:lumMod val="65000"/>
                    <a:lumOff val="35000"/>
                  </a:schemeClr>
                </a:solidFill>
                <a:latin typeface="+mj-lt"/>
              </a:rPr>
              <a:t>Walk Through The Mural Area</a:t>
            </a:r>
          </a:p>
        </p:txBody>
      </p:sp>
      <p:sp>
        <p:nvSpPr>
          <p:cNvPr id="11" name="Title 1">
            <a:extLst>
              <a:ext uri="{FF2B5EF4-FFF2-40B4-BE49-F238E27FC236}">
                <a16:creationId xmlns:a16="http://schemas.microsoft.com/office/drawing/2014/main" id="{4CA5320B-4F89-8CA5-38AB-1E595AF6875F}"/>
              </a:ext>
            </a:extLst>
          </p:cNvPr>
          <p:cNvSpPr txBox="1">
            <a:spLocks/>
          </p:cNvSpPr>
          <p:nvPr/>
        </p:nvSpPr>
        <p:spPr>
          <a:xfrm rot="20902503">
            <a:off x="9206023" y="1227976"/>
            <a:ext cx="2472780" cy="703365"/>
          </a:xfrm>
          <a:prstGeom prst="rect">
            <a:avLst/>
          </a:prstGeom>
          <a:noFill/>
          <a:ln>
            <a:noFill/>
          </a:ln>
        </p:spPr>
        <p:txBody>
          <a:bodyPr anchor="ctr">
            <a:normAutofit fontScale="92500"/>
          </a:bodyPr>
          <a:lst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a:lstStyle>
          <a:p>
            <a:pPr algn="ctr">
              <a:lnSpc>
                <a:spcPct val="120000"/>
              </a:lnSpc>
            </a:pPr>
            <a:r>
              <a:rPr lang="en-US" dirty="0">
                <a:ln>
                  <a:solidFill>
                    <a:schemeClr val="bg2">
                      <a:lumMod val="10000"/>
                      <a:lumOff val="90000"/>
                    </a:schemeClr>
                  </a:solidFill>
                </a:ln>
                <a:solidFill>
                  <a:schemeClr val="tx1">
                    <a:lumMod val="75000"/>
                  </a:schemeClr>
                </a:solidFill>
              </a:rPr>
              <a:t>Room 152 &amp;15</a:t>
            </a:r>
            <a:r>
              <a:rPr lang="en-US" altLang="ko-KR" dirty="0">
                <a:ln>
                  <a:solidFill>
                    <a:schemeClr val="bg2">
                      <a:lumMod val="10000"/>
                      <a:lumOff val="90000"/>
                    </a:schemeClr>
                  </a:solidFill>
                </a:ln>
                <a:solidFill>
                  <a:schemeClr val="tx1">
                    <a:lumMod val="75000"/>
                  </a:schemeClr>
                </a:solidFill>
              </a:rPr>
              <a:t>3</a:t>
            </a:r>
            <a:endParaRPr lang="en-US" dirty="0"/>
          </a:p>
        </p:txBody>
      </p:sp>
    </p:spTree>
    <p:extLst>
      <p:ext uri="{BB962C8B-B14F-4D97-AF65-F5344CB8AC3E}">
        <p14:creationId xmlns:p14="http://schemas.microsoft.com/office/powerpoint/2010/main" val="1913948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334E192F-A751-6DB3-CF15-7E120D449571}"/>
              </a:ext>
            </a:extLst>
          </p:cNvPr>
          <p:cNvSpPr txBox="1">
            <a:spLocks/>
          </p:cNvSpPr>
          <p:nvPr/>
        </p:nvSpPr>
        <p:spPr>
          <a:xfrm>
            <a:off x="728133" y="1257953"/>
            <a:ext cx="9794962" cy="5127857"/>
          </a:xfrm>
          <a:prstGeom prst="rect">
            <a:avLst/>
          </a:prstGeom>
        </p:spPr>
        <p:txBody>
          <a:bodyPr vert="horz" lIns="91440" tIns="45720" rIns="91440" bIns="45720" rtlCol="0" anchor="t">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4000" b="1" dirty="0"/>
              <a:t>1. Too much text to read</a:t>
            </a:r>
            <a:r>
              <a:rPr lang="en-US" sz="4000" dirty="0"/>
              <a:t>: What are people talking about overall?</a:t>
            </a:r>
          </a:p>
          <a:p>
            <a:pPr marL="0" indent="0">
              <a:buFont typeface="Arial" pitchFamily="34" charset="0"/>
              <a:buNone/>
            </a:pPr>
            <a:r>
              <a:rPr lang="en-US" sz="4000" dirty="0"/>
              <a:t>	</a:t>
            </a:r>
            <a:r>
              <a:rPr lang="en-US" sz="4000" dirty="0">
                <a:solidFill>
                  <a:schemeClr val="tx1">
                    <a:lumMod val="50000"/>
                    <a:lumOff val="50000"/>
                  </a:schemeClr>
                </a:solidFill>
              </a:rPr>
              <a:t>Government documents</a:t>
            </a:r>
          </a:p>
          <a:p>
            <a:pPr marL="0" indent="0">
              <a:buFont typeface="Arial" pitchFamily="34" charset="0"/>
              <a:buNone/>
            </a:pPr>
            <a:r>
              <a:rPr lang="en-US" sz="4000" dirty="0">
                <a:solidFill>
                  <a:schemeClr val="tx1">
                    <a:lumMod val="50000"/>
                    <a:lumOff val="50000"/>
                  </a:schemeClr>
                </a:solidFill>
              </a:rPr>
              <a:t>	Social media</a:t>
            </a:r>
          </a:p>
          <a:p>
            <a:pPr marL="0" indent="0">
              <a:buFont typeface="Arial" pitchFamily="34" charset="0"/>
              <a:buNone/>
            </a:pPr>
            <a:r>
              <a:rPr lang="en-US" sz="4000" dirty="0">
                <a:solidFill>
                  <a:schemeClr val="tx1">
                    <a:lumMod val="50000"/>
                    <a:lumOff val="50000"/>
                  </a:schemeClr>
                </a:solidFill>
              </a:rPr>
              <a:t>	Digital archives</a:t>
            </a:r>
          </a:p>
          <a:p>
            <a:pPr marL="0" indent="0">
              <a:buFont typeface="Arial" pitchFamily="34" charset="0"/>
              <a:buNone/>
            </a:pPr>
            <a:r>
              <a:rPr lang="en-US" sz="4000" dirty="0">
                <a:solidFill>
                  <a:schemeClr val="tx1">
                    <a:lumMod val="50000"/>
                    <a:lumOff val="50000"/>
                  </a:schemeClr>
                </a:solidFill>
              </a:rPr>
              <a:t>	Books, News, letters, speeches, transcripts...</a:t>
            </a:r>
          </a:p>
          <a:p>
            <a:pPr marL="0" indent="0">
              <a:buFont typeface="Arial" pitchFamily="34" charset="0"/>
              <a:buNone/>
            </a:pPr>
            <a:endParaRPr lang="en-US" sz="4000" dirty="0"/>
          </a:p>
          <a:p>
            <a:pPr marL="0" indent="0">
              <a:buFont typeface="Arial" pitchFamily="34" charset="0"/>
              <a:buNone/>
            </a:pPr>
            <a:r>
              <a:rPr lang="en-US" sz="4000" dirty="0"/>
              <a:t>2.</a:t>
            </a:r>
            <a:r>
              <a:rPr lang="en-US" sz="4000" b="1" dirty="0"/>
              <a:t> Objectivity : Reduce subjective impressions</a:t>
            </a:r>
          </a:p>
          <a:p>
            <a:pPr marL="0" indent="0">
              <a:buFont typeface="Arial" pitchFamily="34" charset="0"/>
              <a:buNone/>
            </a:pPr>
            <a:r>
              <a:rPr lang="en-US" sz="4000" dirty="0"/>
              <a:t>	</a:t>
            </a:r>
            <a:r>
              <a:rPr lang="en-US" sz="4000" dirty="0">
                <a:solidFill>
                  <a:schemeClr val="tx1">
                    <a:lumMod val="50000"/>
                    <a:lumOff val="50000"/>
                  </a:schemeClr>
                </a:solidFill>
              </a:rPr>
              <a:t>Text analysis provides evidence based on the entire corpus</a:t>
            </a:r>
          </a:p>
          <a:p>
            <a:pPr marL="0" indent="0">
              <a:buFont typeface="Arial" pitchFamily="34" charset="0"/>
              <a:buNone/>
            </a:pPr>
            <a:endParaRPr lang="en-US" sz="4000" dirty="0"/>
          </a:p>
          <a:p>
            <a:pPr marL="0" indent="0">
              <a:buFont typeface="Arial" pitchFamily="34" charset="0"/>
              <a:buNone/>
            </a:pPr>
            <a:r>
              <a:rPr lang="en-US" sz="4000" b="1" dirty="0"/>
              <a:t>3. Discover hidden patterns:</a:t>
            </a:r>
          </a:p>
          <a:p>
            <a:pPr marL="0" indent="0">
              <a:buFont typeface="Arial" pitchFamily="34" charset="0"/>
              <a:buNone/>
            </a:pPr>
            <a:r>
              <a:rPr lang="en-US" sz="4000" dirty="0"/>
              <a:t>	</a:t>
            </a:r>
            <a:r>
              <a:rPr lang="en-US" sz="4000" dirty="0">
                <a:solidFill>
                  <a:schemeClr val="tx1">
                    <a:lumMod val="50000"/>
                    <a:lumOff val="50000"/>
                  </a:schemeClr>
                </a:solidFill>
              </a:rPr>
              <a:t>Recurring themes</a:t>
            </a:r>
          </a:p>
          <a:p>
            <a:pPr marL="0" indent="0">
              <a:buFont typeface="Arial" pitchFamily="34" charset="0"/>
              <a:buNone/>
            </a:pPr>
            <a:r>
              <a:rPr lang="en-US" sz="4000" dirty="0">
                <a:solidFill>
                  <a:schemeClr val="tx1">
                    <a:lumMod val="50000"/>
                    <a:lumOff val="50000"/>
                  </a:schemeClr>
                </a:solidFill>
              </a:rPr>
              <a:t>	Associations between words</a:t>
            </a:r>
          </a:p>
          <a:p>
            <a:pPr marL="0" indent="0">
              <a:buFont typeface="Arial" pitchFamily="34" charset="0"/>
              <a:buNone/>
            </a:pPr>
            <a:r>
              <a:rPr lang="en-US" sz="4000" dirty="0">
                <a:solidFill>
                  <a:schemeClr val="tx1">
                    <a:lumMod val="50000"/>
                    <a:lumOff val="50000"/>
                  </a:schemeClr>
                </a:solidFill>
              </a:rPr>
              <a:t>	Differences between groups</a:t>
            </a:r>
          </a:p>
          <a:p>
            <a:pPr marL="0" indent="0">
              <a:buFont typeface="Arial" pitchFamily="34" charset="0"/>
              <a:buNone/>
            </a:pPr>
            <a:r>
              <a:rPr lang="en-US" sz="4000" dirty="0">
                <a:solidFill>
                  <a:schemeClr val="tx1">
                    <a:lumMod val="50000"/>
                    <a:lumOff val="50000"/>
                  </a:schemeClr>
                </a:solidFill>
              </a:rPr>
              <a:t>	Sentiment trends</a:t>
            </a:r>
          </a:p>
          <a:p>
            <a:pPr>
              <a:buFont typeface="Arial" pitchFamily="34" charset="0"/>
              <a:buAutoNum type="arabicPeriod"/>
            </a:pPr>
            <a:endParaRPr lang="en-US" dirty="0"/>
          </a:p>
        </p:txBody>
      </p:sp>
      <p:sp>
        <p:nvSpPr>
          <p:cNvPr id="6" name="Title 1">
            <a:extLst>
              <a:ext uri="{FF2B5EF4-FFF2-40B4-BE49-F238E27FC236}">
                <a16:creationId xmlns:a16="http://schemas.microsoft.com/office/drawing/2014/main" id="{8B530A3F-9A45-3B94-930E-8D4021E099FD}"/>
              </a:ext>
            </a:extLst>
          </p:cNvPr>
          <p:cNvSpPr txBox="1">
            <a:spLocks/>
          </p:cNvSpPr>
          <p:nvPr/>
        </p:nvSpPr>
        <p:spPr>
          <a:xfrm>
            <a:off x="533261" y="365506"/>
            <a:ext cx="7433734" cy="89244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a:t>Why Text Analysis?</a:t>
            </a:r>
          </a:p>
        </p:txBody>
      </p:sp>
    </p:spTree>
    <p:extLst>
      <p:ext uri="{BB962C8B-B14F-4D97-AF65-F5344CB8AC3E}">
        <p14:creationId xmlns:p14="http://schemas.microsoft.com/office/powerpoint/2010/main" val="635345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548640"/>
            <a:ext cx="10698480" cy="73152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About this workshop</a:t>
            </a:r>
            <a:endParaRPr lang="en-US" sz="4400" dirty="0">
              <a:latin typeface="+mj-lt"/>
            </a:endParaRPr>
          </a:p>
        </p:txBody>
      </p:sp>
      <p:sp>
        <p:nvSpPr>
          <p:cNvPr id="3" name="Text 1"/>
          <p:cNvSpPr txBox="1"/>
          <p:nvPr/>
        </p:nvSpPr>
        <p:spPr>
          <a:xfrm>
            <a:off x="822960" y="1540932"/>
            <a:ext cx="10149840" cy="4030135"/>
          </a:xfrm>
          <a:prstGeom prst="rect">
            <a:avLst/>
          </a:prstGeom>
          <a:noFill/>
          <a:ln/>
        </p:spPr>
        <p:txBody>
          <a:bodyPr wrap="square" lIns="0" tIns="0" rIns="0" bIns="0" rtlCol="0" anchor="t"/>
          <a:lstStyle/>
          <a:p>
            <a:pPr marL="228600" indent="-228600">
              <a:spcAft>
                <a:spcPts val="900"/>
              </a:spcAft>
              <a:buSzPct val="100000"/>
              <a:buFontTx/>
              <a:buChar char="•"/>
            </a:pPr>
            <a:r>
              <a:rPr lang="en-US" sz="2200" dirty="0"/>
              <a:t>A transcription : 2025  City of Charlottesville council meeting on ordinance on encamping and storge in property of the city.​</a:t>
            </a:r>
          </a:p>
          <a:p>
            <a:pPr marL="228600" indent="-228600">
              <a:spcAft>
                <a:spcPts val="900"/>
              </a:spcAft>
              <a:buSzPct val="100000"/>
              <a:buChar char="•"/>
            </a:pPr>
            <a:r>
              <a:rPr lang="en-US" sz="2200" dirty="0">
                <a:solidFill>
                  <a:srgbClr val="222222"/>
                </a:solidFill>
                <a:ea typeface="Calibri" pitchFamily="34" charset="-122"/>
                <a:cs typeface="Calibri" pitchFamily="34" charset="-120"/>
              </a:rPr>
              <a:t>You will learn to:</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Collect and clean transcript data</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Five text analysis methods</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Create basic visualizations</a:t>
            </a:r>
            <a:endParaRPr lang="en-US" sz="2200" dirty="0"/>
          </a:p>
          <a:p>
            <a:pPr marL="228600" indent="-228600">
              <a:spcAft>
                <a:spcPts val="900"/>
              </a:spcAft>
              <a:buSzPct val="100000"/>
              <a:buChar char="•"/>
            </a:pPr>
            <a:r>
              <a:rPr lang="en-US" sz="2200" dirty="0">
                <a:solidFill>
                  <a:srgbClr val="222222"/>
                </a:solidFill>
                <a:ea typeface="Calibri" pitchFamily="34" charset="-122"/>
                <a:cs typeface="Calibri" pitchFamily="34" charset="-120"/>
              </a:rPr>
              <a:t>We also look at how AI can support this work — and its limitations and ethics.</a:t>
            </a:r>
            <a:r>
              <a:rPr lang="en-US" sz="22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51638" y="370701"/>
            <a:ext cx="10698480" cy="73152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Three parts</a:t>
            </a:r>
            <a:endParaRPr lang="en-US" sz="4400" dirty="0">
              <a:latin typeface="+mj-lt"/>
            </a:endParaRPr>
          </a:p>
        </p:txBody>
      </p:sp>
      <p:sp>
        <p:nvSpPr>
          <p:cNvPr id="4" name="Text 2"/>
          <p:cNvSpPr txBox="1"/>
          <p:nvPr/>
        </p:nvSpPr>
        <p:spPr>
          <a:xfrm>
            <a:off x="1226194" y="1362245"/>
            <a:ext cx="10515600" cy="4780280"/>
          </a:xfrm>
          <a:prstGeom prst="rect">
            <a:avLst/>
          </a:prstGeom>
          <a:noFill/>
          <a:ln/>
        </p:spPr>
        <p:txBody>
          <a:bodyPr wrap="square" lIns="0" tIns="0" rIns="0" bIns="0" rtlCol="0" anchor="t"/>
          <a:lstStyle/>
          <a:p>
            <a:pPr marL="228600" indent="-228600">
              <a:spcAft>
                <a:spcPts val="900"/>
              </a:spcAft>
              <a:buSzPct val="100000"/>
              <a:buChar char="•"/>
            </a:pPr>
            <a:r>
              <a:rPr lang="en-US" sz="2200" b="1" dirty="0">
                <a:solidFill>
                  <a:srgbClr val="222222"/>
                </a:solidFill>
                <a:ea typeface="Calibri" pitchFamily="34" charset="-122"/>
                <a:cs typeface="Calibri" pitchFamily="34" charset="-120"/>
              </a:rPr>
              <a:t>Collect &amp; Clean</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Scrape the raw transcript from the web page into a tidy table.</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Tokenize, remove stopwords, subset to the ordinance, attach speaker names.</a:t>
            </a:r>
          </a:p>
          <a:p>
            <a:pPr marL="228600" lvl="1">
              <a:spcAft>
                <a:spcPts val="500"/>
              </a:spcAft>
              <a:buSzPct val="100000"/>
            </a:pP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Analyze &amp; Visualize</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Explore the text and test pilot hypotheses across four groups.</a:t>
            </a:r>
          </a:p>
          <a:p>
            <a:pPr marL="457200" lvl="1" indent="-228600">
              <a:spcAft>
                <a:spcPts val="500"/>
              </a:spcAft>
              <a:buSzPct val="100000"/>
              <a:buChar char="•"/>
            </a:pPr>
            <a:r>
              <a:rPr lang="en-US" sz="2200" dirty="0">
                <a:solidFill>
                  <a:srgbClr val="666666"/>
                </a:solidFill>
                <a:cs typeface="Calibri" pitchFamily="34" charset="-120"/>
              </a:rPr>
              <a:t>Faceted Horizontal bar graphs.</a:t>
            </a:r>
          </a:p>
          <a:p>
            <a:pPr marL="457200" lvl="1" indent="-228600">
              <a:spcAft>
                <a:spcPts val="500"/>
              </a:spcAft>
              <a:buSzPct val="100000"/>
              <a:buChar char="•"/>
            </a:pPr>
            <a:endParaRPr lang="en-US" sz="2200" dirty="0">
              <a:solidFill>
                <a:srgbClr val="666666"/>
              </a:solidFill>
              <a:cs typeface="Calibri" pitchFamily="34" charset="-120"/>
            </a:endParaRPr>
          </a:p>
          <a:p>
            <a:pPr marL="228600" indent="-228600">
              <a:spcAft>
                <a:spcPts val="900"/>
              </a:spcAft>
              <a:buSzPct val="100000"/>
              <a:buChar char="•"/>
            </a:pPr>
            <a:r>
              <a:rPr lang="en-US" sz="2200" b="1" dirty="0">
                <a:solidFill>
                  <a:srgbClr val="222222"/>
                </a:solidFill>
                <a:ea typeface="Calibri" pitchFamily="34" charset="-122"/>
                <a:cs typeface="Calibri" pitchFamily="34" charset="-120"/>
              </a:rPr>
              <a:t>AI support</a:t>
            </a:r>
          </a:p>
          <a:p>
            <a:pPr marL="685800" lvl="1" indent="-228600">
              <a:spcAft>
                <a:spcPts val="900"/>
              </a:spcAft>
              <a:buSzPct val="100000"/>
              <a:buFontTx/>
              <a:buChar char="•"/>
            </a:pPr>
            <a:r>
              <a:rPr lang="en-US" sz="2200" dirty="0">
                <a:solidFill>
                  <a:srgbClr val="666666"/>
                </a:solidFill>
                <a:ea typeface="Calibri" pitchFamily="34" charset="-122"/>
                <a:cs typeface="Calibri" pitchFamily="34" charset="-120"/>
              </a:rPr>
              <a:t>Where and how—and its limitations and ethics</a:t>
            </a:r>
          </a:p>
          <a:p>
            <a:pPr marL="228600" indent="-228600">
              <a:spcAft>
                <a:spcPts val="900"/>
              </a:spcAft>
              <a:buSzPct val="100000"/>
              <a:buChar char="•"/>
            </a:pPr>
            <a:endParaRPr lang="en-US" sz="2200" b="1" dirty="0">
              <a:solidFill>
                <a:srgbClr val="222222"/>
              </a:solidFill>
              <a:ea typeface="Calibri" pitchFamily="34" charset="-122"/>
              <a:cs typeface="Calibri" pitchFamily="34" charset="-120"/>
            </a:endParaRPr>
          </a:p>
          <a:p>
            <a:pPr marL="228600" indent="-228600">
              <a:spcAft>
                <a:spcPts val="900"/>
              </a:spcAft>
              <a:buSzPct val="100000"/>
              <a:buChar char="•"/>
            </a:pP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ext 0"/>
          <p:cNvSpPr txBox="1"/>
          <p:nvPr/>
        </p:nvSpPr>
        <p:spPr>
          <a:xfrm>
            <a:off x="731520" y="2468880"/>
            <a:ext cx="10698480" cy="457200"/>
          </a:xfrm>
          <a:prstGeom prst="rect">
            <a:avLst/>
          </a:prstGeom>
          <a:noFill/>
          <a:ln/>
        </p:spPr>
        <p:txBody>
          <a:bodyPr wrap="square" lIns="0" tIns="0" rIns="0" bIns="0" rtlCol="0" anchor="ctr"/>
          <a:lstStyle/>
          <a:p>
            <a:pPr marL="0" indent="0">
              <a:buNone/>
            </a:pPr>
            <a:r>
              <a:rPr lang="en-US" sz="1600" b="1" kern="0" spc="200" dirty="0">
                <a:solidFill>
                  <a:srgbClr val="666666"/>
                </a:solidFill>
                <a:latin typeface="Calibri" pitchFamily="34" charset="0"/>
                <a:ea typeface="Calibri" pitchFamily="34" charset="-122"/>
                <a:cs typeface="Calibri" pitchFamily="34" charset="-120"/>
              </a:rPr>
              <a:t>PART A</a:t>
            </a:r>
            <a:endParaRPr lang="en-US" sz="1600" dirty="0"/>
          </a:p>
        </p:txBody>
      </p:sp>
      <p:sp>
        <p:nvSpPr>
          <p:cNvPr id="3" name="Text 1"/>
          <p:cNvSpPr txBox="1"/>
          <p:nvPr/>
        </p:nvSpPr>
        <p:spPr>
          <a:xfrm>
            <a:off x="731520" y="2926080"/>
            <a:ext cx="10698480" cy="91440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Collecting and cleaning the data</a:t>
            </a:r>
            <a:endParaRPr lang="en-US" sz="4400" dirty="0">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46760" y="457200"/>
            <a:ext cx="10698480" cy="73152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File 01 — Data collection</a:t>
            </a:r>
            <a:endParaRPr lang="en-US" sz="4400" dirty="0">
              <a:latin typeface="+mj-lt"/>
            </a:endParaRPr>
          </a:p>
        </p:txBody>
      </p:sp>
      <p:sp>
        <p:nvSpPr>
          <p:cNvPr id="3" name="Text 1"/>
          <p:cNvSpPr txBox="1"/>
          <p:nvPr/>
        </p:nvSpPr>
        <p:spPr>
          <a:xfrm>
            <a:off x="822960" y="1463040"/>
            <a:ext cx="10515600" cy="4572000"/>
          </a:xfrm>
          <a:prstGeom prst="rect">
            <a:avLst/>
          </a:prstGeom>
          <a:noFill/>
          <a:ln/>
        </p:spPr>
        <p:txBody>
          <a:bodyPr wrap="square" lIns="0" tIns="0" rIns="0" bIns="0" rtlCol="0" anchor="t"/>
          <a:lstStyle/>
          <a:p>
            <a:pPr marL="228600" indent="-228600">
              <a:spcAft>
                <a:spcPts val="900"/>
              </a:spcAft>
              <a:buSzPct val="100000"/>
              <a:buChar char="•"/>
            </a:pPr>
            <a:r>
              <a:rPr lang="en-US" sz="2200" b="1" dirty="0">
                <a:solidFill>
                  <a:srgbClr val="222222"/>
                </a:solidFill>
                <a:ea typeface="Calibri" pitchFamily="34" charset="-122"/>
                <a:cs typeface="Calibri" pitchFamily="34" charset="-120"/>
              </a:rPr>
              <a:t>Can we scrape this?</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Check </a:t>
            </a:r>
            <a:r>
              <a:rPr lang="en-US" sz="2200" dirty="0" err="1">
                <a:solidFill>
                  <a:srgbClr val="666666"/>
                </a:solidFill>
                <a:ea typeface="Calibri" pitchFamily="34" charset="-122"/>
                <a:cs typeface="Calibri" pitchFamily="34" charset="-120"/>
              </a:rPr>
              <a:t>robots.txt</a:t>
            </a:r>
            <a:r>
              <a:rPr lang="en-US" sz="2200" dirty="0">
                <a:solidFill>
                  <a:srgbClr val="666666"/>
                </a:solidFill>
                <a:ea typeface="Calibri" pitchFamily="34" charset="-122"/>
                <a:cs typeface="Calibri" pitchFamily="34" charset="-120"/>
              </a:rPr>
              <a:t>, prefer an API, be a polite guest (identify yourself, throttle).</a:t>
            </a: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Look before you code</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Is the text in the page? Find the repeating pattern: transcript ⊃ turns ⊃ caption lines.</a:t>
            </a: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HTML → tidy table</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Use meaningful CSS selectors (</a:t>
            </a:r>
            <a:r>
              <a:rPr lang="en-US" sz="2200" dirty="0" err="1">
                <a:solidFill>
                  <a:srgbClr val="666666"/>
                </a:solidFill>
                <a:ea typeface="Calibri" pitchFamily="34" charset="-122"/>
                <a:cs typeface="Calibri" pitchFamily="34" charset="-120"/>
              </a:rPr>
              <a:t>li.speaker</a:t>
            </a:r>
            <a:r>
              <a:rPr lang="en-US" sz="2200" dirty="0">
                <a:solidFill>
                  <a:srgbClr val="666666"/>
                </a:solidFill>
                <a:ea typeface="Calibri" pitchFamily="34" charset="-122"/>
                <a:cs typeface="Calibri" pitchFamily="34" charset="-120"/>
              </a:rPr>
              <a:t>-chunk) to pull the 457 turns into rows.</a:t>
            </a: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Check &amp; save</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Sanity-check the parse, save the raw HTML and a clean CSV.</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548640"/>
            <a:ext cx="10698480" cy="73152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File 01 — subset &amp; clean</a:t>
            </a:r>
            <a:endParaRPr lang="en-US" sz="4400" dirty="0">
              <a:latin typeface="+mj-lt"/>
            </a:endParaRPr>
          </a:p>
        </p:txBody>
      </p:sp>
      <p:sp>
        <p:nvSpPr>
          <p:cNvPr id="3" name="Text 1"/>
          <p:cNvSpPr txBox="1"/>
          <p:nvPr/>
        </p:nvSpPr>
        <p:spPr>
          <a:xfrm>
            <a:off x="838200" y="1627932"/>
            <a:ext cx="10515600" cy="3888449"/>
          </a:xfrm>
          <a:prstGeom prst="rect">
            <a:avLst/>
          </a:prstGeom>
          <a:noFill/>
          <a:ln/>
        </p:spPr>
        <p:txBody>
          <a:bodyPr wrap="square" lIns="0" tIns="0" rIns="0" bIns="0" rtlCol="0" anchor="t"/>
          <a:lstStyle/>
          <a:p>
            <a:pPr marL="228600" indent="-228600">
              <a:spcAft>
                <a:spcPts val="900"/>
              </a:spcAft>
              <a:buSzPct val="100000"/>
              <a:buChar char="•"/>
            </a:pPr>
            <a:r>
              <a:rPr lang="en-US" sz="2200" dirty="0">
                <a:solidFill>
                  <a:srgbClr val="222222"/>
                </a:solidFill>
                <a:ea typeface="Calibri" pitchFamily="34" charset="-122"/>
                <a:cs typeface="Calibri" pitchFamily="34" charset="-120"/>
              </a:rPr>
              <a:t>Slice by time — keep only the three discussion periods on the ordinance.</a:t>
            </a:r>
            <a:endParaRPr lang="en-US" sz="2200" dirty="0"/>
          </a:p>
          <a:p>
            <a:pPr marL="228600" indent="-228600">
              <a:spcAft>
                <a:spcPts val="900"/>
              </a:spcAft>
              <a:buSzPct val="100000"/>
              <a:buChar char="•"/>
            </a:pPr>
            <a:r>
              <a:rPr lang="en-US" sz="2200" dirty="0">
                <a:solidFill>
                  <a:srgbClr val="222222"/>
                </a:solidFill>
                <a:ea typeface="Calibri" pitchFamily="34" charset="-122"/>
                <a:cs typeface="Calibri" pitchFamily="34" charset="-120"/>
              </a:rPr>
              <a:t>Rebuild turns — combine caption lines back into complete speaking turns.</a:t>
            </a:r>
            <a:endParaRPr lang="en-US" sz="2200" dirty="0"/>
          </a:p>
          <a:p>
            <a:pPr marL="228600" indent="-228600">
              <a:spcAft>
                <a:spcPts val="900"/>
              </a:spcAft>
              <a:buSzPct val="100000"/>
              <a:buChar char="•"/>
            </a:pPr>
            <a:r>
              <a:rPr lang="en-US" sz="2200" dirty="0">
                <a:solidFill>
                  <a:srgbClr val="222222"/>
                </a:solidFill>
                <a:ea typeface="Calibri" pitchFamily="34" charset="-122"/>
                <a:cs typeface="Calibri" pitchFamily="34" charset="-120"/>
              </a:rPr>
              <a:t>Attach identities — join a hand-coded speaker roster for names and stakeholder groups.</a:t>
            </a:r>
            <a:endParaRPr lang="en-US" sz="2200" dirty="0"/>
          </a:p>
          <a:p>
            <a:pPr marL="228600" indent="-228600">
              <a:spcAft>
                <a:spcPts val="900"/>
              </a:spcAft>
              <a:buSzPct val="100000"/>
              <a:buChar char="•"/>
            </a:pPr>
            <a:r>
              <a:rPr lang="en-US" sz="2200" dirty="0">
                <a:solidFill>
                  <a:srgbClr val="222222"/>
                </a:solidFill>
                <a:ea typeface="Calibri" pitchFamily="34" charset="-122"/>
                <a:cs typeface="Calibri" pitchFamily="34" charset="-120"/>
              </a:rPr>
              <a:t>Drop off-topic speakers (manually verified).</a:t>
            </a: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Output: ordinance.csv — a clean, labeled dataset ready to analyze.</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ext 0"/>
          <p:cNvSpPr txBox="1"/>
          <p:nvPr/>
        </p:nvSpPr>
        <p:spPr>
          <a:xfrm>
            <a:off x="731520" y="2468880"/>
            <a:ext cx="10698480" cy="457200"/>
          </a:xfrm>
          <a:prstGeom prst="rect">
            <a:avLst/>
          </a:prstGeom>
          <a:noFill/>
          <a:ln/>
        </p:spPr>
        <p:txBody>
          <a:bodyPr wrap="square" lIns="0" tIns="0" rIns="0" bIns="0" rtlCol="0" anchor="ctr"/>
          <a:lstStyle/>
          <a:p>
            <a:pPr marL="0" indent="0">
              <a:buNone/>
            </a:pPr>
            <a:r>
              <a:rPr lang="en-US" sz="1600" b="1" kern="0" spc="200" dirty="0">
                <a:solidFill>
                  <a:srgbClr val="666666"/>
                </a:solidFill>
                <a:latin typeface="Calibri" pitchFamily="34" charset="0"/>
                <a:ea typeface="Calibri" pitchFamily="34" charset="-122"/>
                <a:cs typeface="Calibri" pitchFamily="34" charset="-120"/>
              </a:rPr>
              <a:t>PART A (cont.)</a:t>
            </a:r>
            <a:endParaRPr lang="en-US" sz="1600" dirty="0"/>
          </a:p>
        </p:txBody>
      </p:sp>
      <p:sp>
        <p:nvSpPr>
          <p:cNvPr id="3" name="Text 1"/>
          <p:cNvSpPr txBox="1"/>
          <p:nvPr/>
        </p:nvSpPr>
        <p:spPr>
          <a:xfrm>
            <a:off x="731520" y="2926080"/>
            <a:ext cx="10698480" cy="91440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Analyzing the transcript</a:t>
            </a:r>
            <a:endParaRPr lang="en-US" sz="4400"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548640"/>
            <a:ext cx="10698480" cy="73152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File 02 — the question</a:t>
            </a:r>
            <a:endParaRPr lang="en-US" sz="4400" dirty="0">
              <a:latin typeface="+mj-lt"/>
            </a:endParaRPr>
          </a:p>
        </p:txBody>
      </p:sp>
      <p:sp>
        <p:nvSpPr>
          <p:cNvPr id="3" name="Text 1"/>
          <p:cNvSpPr txBox="1"/>
          <p:nvPr/>
        </p:nvSpPr>
        <p:spPr>
          <a:xfrm>
            <a:off x="822960" y="1627932"/>
            <a:ext cx="10515600" cy="4572000"/>
          </a:xfrm>
          <a:prstGeom prst="rect">
            <a:avLst/>
          </a:prstGeom>
          <a:noFill/>
          <a:ln/>
        </p:spPr>
        <p:txBody>
          <a:bodyPr wrap="square" lIns="0" tIns="0" rIns="0" bIns="0" rtlCol="0" anchor="t"/>
          <a:lstStyle/>
          <a:p>
            <a:pPr marL="228600" indent="-228600">
              <a:spcAft>
                <a:spcPts val="900"/>
              </a:spcAft>
              <a:buSzPct val="100000"/>
              <a:buChar char="•"/>
            </a:pPr>
            <a:r>
              <a:rPr lang="en-US" sz="2200" dirty="0">
                <a:solidFill>
                  <a:srgbClr val="222222"/>
                </a:solidFill>
                <a:ea typeface="Calibri" pitchFamily="34" charset="-122"/>
                <a:cs typeface="Calibri" pitchFamily="34" charset="-120"/>
              </a:rPr>
              <a:t>How do four stakeholder groups talk about the ordinance differently?</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Police Chief — explains the proposed ordinance</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City Council — deliberates and votes</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Business representatives — public speakers for business</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Public — other members of the public</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548640"/>
            <a:ext cx="10698480" cy="73152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Five methods</a:t>
            </a:r>
            <a:endParaRPr lang="en-US" sz="4400" dirty="0">
              <a:latin typeface="+mj-lt"/>
            </a:endParaRPr>
          </a:p>
        </p:txBody>
      </p:sp>
      <p:sp>
        <p:nvSpPr>
          <p:cNvPr id="3" name="Text 1"/>
          <p:cNvSpPr txBox="1"/>
          <p:nvPr/>
        </p:nvSpPr>
        <p:spPr>
          <a:xfrm>
            <a:off x="749808" y="1234440"/>
            <a:ext cx="10515600" cy="457200"/>
          </a:xfrm>
          <a:prstGeom prst="rect">
            <a:avLst/>
          </a:prstGeom>
          <a:noFill/>
          <a:ln/>
        </p:spPr>
        <p:txBody>
          <a:bodyPr wrap="square" lIns="0" tIns="0" rIns="0" bIns="0" rtlCol="0" anchor="ctr"/>
          <a:lstStyle/>
          <a:p>
            <a:pPr marL="0" indent="0">
              <a:buNone/>
            </a:pPr>
            <a:r>
              <a:rPr lang="en-US" sz="1600" i="1" dirty="0">
                <a:solidFill>
                  <a:srgbClr val="666666"/>
                </a:solidFill>
                <a:latin typeface="Calibri" pitchFamily="34" charset="0"/>
                <a:ea typeface="Calibri" pitchFamily="34" charset="-122"/>
                <a:cs typeface="Calibri" pitchFamily="34" charset="-120"/>
              </a:rPr>
              <a:t>Each answers a different question about how they talked</a:t>
            </a:r>
            <a:endParaRPr lang="en-US" sz="1600" dirty="0"/>
          </a:p>
        </p:txBody>
      </p:sp>
      <p:sp>
        <p:nvSpPr>
          <p:cNvPr id="4" name="Text 2"/>
          <p:cNvSpPr txBox="1"/>
          <p:nvPr/>
        </p:nvSpPr>
        <p:spPr>
          <a:xfrm>
            <a:off x="838200" y="2129353"/>
            <a:ext cx="10515600" cy="3941664"/>
          </a:xfrm>
          <a:prstGeom prst="rect">
            <a:avLst/>
          </a:prstGeom>
          <a:noFill/>
          <a:ln/>
        </p:spPr>
        <p:txBody>
          <a:bodyPr wrap="square" lIns="0" tIns="0" rIns="0" bIns="0" rtlCol="0" anchor="t"/>
          <a:lstStyle/>
          <a:p>
            <a:pPr marL="228600" indent="-228600">
              <a:spcAft>
                <a:spcPts val="900"/>
              </a:spcAft>
              <a:buSzPct val="100000"/>
              <a:buChar char="•"/>
            </a:pPr>
            <a:r>
              <a:rPr lang="en-US" sz="2200" b="1" dirty="0">
                <a:solidFill>
                  <a:srgbClr val="222222"/>
                </a:solidFill>
                <a:ea typeface="Calibri" pitchFamily="34" charset="-122"/>
                <a:cs typeface="Calibri" pitchFamily="34" charset="-120"/>
              </a:rPr>
              <a:t>Relative word frequency </a:t>
            </a:r>
            <a:r>
              <a:rPr lang="en-US" sz="2200" dirty="0">
                <a:solidFill>
                  <a:srgbClr val="222222"/>
                </a:solidFill>
                <a:ea typeface="Calibri" pitchFamily="34" charset="-122"/>
                <a:cs typeface="Calibri" pitchFamily="34" charset="-120"/>
              </a:rPr>
              <a:t>— word rates per 1,000 words (fair across groups).</a:t>
            </a: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N-grams</a:t>
            </a:r>
            <a:r>
              <a:rPr lang="en-US" sz="2200" dirty="0">
                <a:solidFill>
                  <a:srgbClr val="222222"/>
                </a:solidFill>
                <a:ea typeface="Calibri" pitchFamily="34" charset="-122"/>
                <a:cs typeface="Calibri" pitchFamily="34" charset="-120"/>
              </a:rPr>
              <a:t> — recurring 2–3word phrases (“affordable housing”).</a:t>
            </a: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Keyness </a:t>
            </a:r>
            <a:r>
              <a:rPr lang="en-US" sz="2200" dirty="0">
                <a:solidFill>
                  <a:srgbClr val="222222"/>
                </a:solidFill>
                <a:ea typeface="Calibri" pitchFamily="34" charset="-122"/>
                <a:cs typeface="Calibri" pitchFamily="34" charset="-120"/>
              </a:rPr>
              <a:t>— words distinctive to one group vs. the rest.</a:t>
            </a: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KWIC </a:t>
            </a:r>
            <a:r>
              <a:rPr lang="en-US" sz="2200" dirty="0">
                <a:solidFill>
                  <a:srgbClr val="222222"/>
                </a:solidFill>
                <a:ea typeface="Calibri" pitchFamily="34" charset="-122"/>
                <a:cs typeface="Calibri" pitchFamily="34" charset="-120"/>
              </a:rPr>
              <a:t>— keyword in context: read behind the numbers.</a:t>
            </a: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Sentiment</a:t>
            </a:r>
            <a:r>
              <a:rPr lang="en-US" sz="2200" dirty="0">
                <a:solidFill>
                  <a:srgbClr val="222222"/>
                </a:solidFill>
                <a:ea typeface="Calibri" pitchFamily="34" charset="-122"/>
                <a:cs typeface="Calibri" pitchFamily="34" charset="-120"/>
              </a:rPr>
              <a:t> — dictionary-based tone by group and over time.</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548640"/>
            <a:ext cx="10698480" cy="73152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Basic visualizations</a:t>
            </a:r>
            <a:endParaRPr lang="en-US" sz="4400" dirty="0">
              <a:latin typeface="+mj-lt"/>
            </a:endParaRPr>
          </a:p>
        </p:txBody>
      </p:sp>
      <p:sp>
        <p:nvSpPr>
          <p:cNvPr id="3" name="Text 1"/>
          <p:cNvSpPr txBox="1"/>
          <p:nvPr/>
        </p:nvSpPr>
        <p:spPr>
          <a:xfrm>
            <a:off x="822960" y="1737360"/>
            <a:ext cx="10515600" cy="4572000"/>
          </a:xfrm>
          <a:prstGeom prst="rect">
            <a:avLst/>
          </a:prstGeom>
          <a:noFill/>
          <a:ln/>
        </p:spPr>
        <p:txBody>
          <a:bodyPr wrap="square" lIns="0" tIns="0" rIns="0" bIns="0" rtlCol="0" anchor="t"/>
          <a:lstStyle/>
          <a:p>
            <a:pPr marL="228600" indent="-228600">
              <a:spcAft>
                <a:spcPts val="900"/>
              </a:spcAft>
              <a:buSzPct val="100000"/>
              <a:buChar char="•"/>
            </a:pPr>
            <a:r>
              <a:rPr lang="en-US" sz="2200" dirty="0">
                <a:solidFill>
                  <a:srgbClr val="222222"/>
                </a:solidFill>
                <a:ea typeface="Calibri" pitchFamily="34" charset="-122"/>
                <a:cs typeface="Calibri" pitchFamily="34" charset="-120"/>
              </a:rPr>
              <a:t>Bar chart of top words by group (relative frequency).</a:t>
            </a:r>
            <a:endParaRPr lang="en-US" sz="2200" dirty="0"/>
          </a:p>
          <a:p>
            <a:pPr marL="228600" indent="-228600">
              <a:spcAft>
                <a:spcPts val="900"/>
              </a:spcAft>
              <a:buSzPct val="100000"/>
              <a:buChar char="•"/>
            </a:pPr>
            <a:r>
              <a:rPr lang="en-US" sz="2200" dirty="0">
                <a:solidFill>
                  <a:srgbClr val="222222"/>
                </a:solidFill>
                <a:ea typeface="Calibri" pitchFamily="34" charset="-122"/>
                <a:cs typeface="Calibri" pitchFamily="34" charset="-120"/>
              </a:rPr>
              <a:t>Keyness plot for one group's distinctive words.</a:t>
            </a:r>
            <a:endParaRPr lang="en-US" sz="2200" dirty="0"/>
          </a:p>
          <a:p>
            <a:pPr marL="228600" indent="-228600">
              <a:spcAft>
                <a:spcPts val="900"/>
              </a:spcAft>
              <a:buSzPct val="100000"/>
              <a:buChar char="•"/>
            </a:pPr>
            <a:r>
              <a:rPr lang="en-US" sz="2200" dirty="0">
                <a:solidFill>
                  <a:srgbClr val="222222"/>
                </a:solidFill>
                <a:ea typeface="Calibri" pitchFamily="34" charset="-122"/>
                <a:cs typeface="Calibri" pitchFamily="34" charset="-120"/>
              </a:rPr>
              <a:t>Sentiment by stakeholder, and across the three comment phases.</a:t>
            </a: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Goal: make the numbers readable.</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ext 0"/>
          <p:cNvSpPr txBox="1"/>
          <p:nvPr/>
        </p:nvSpPr>
        <p:spPr>
          <a:xfrm>
            <a:off x="731520" y="2468880"/>
            <a:ext cx="10698480" cy="457200"/>
          </a:xfrm>
          <a:prstGeom prst="rect">
            <a:avLst/>
          </a:prstGeom>
          <a:noFill/>
          <a:ln/>
        </p:spPr>
        <p:txBody>
          <a:bodyPr wrap="square" lIns="0" tIns="0" rIns="0" bIns="0" rtlCol="0" anchor="ctr"/>
          <a:lstStyle/>
          <a:p>
            <a:pPr marL="0" indent="0">
              <a:buNone/>
            </a:pPr>
            <a:r>
              <a:rPr lang="en-US" sz="1600" b="1" kern="0" spc="200" dirty="0">
                <a:solidFill>
                  <a:srgbClr val="666666"/>
                </a:solidFill>
                <a:latin typeface="Calibri" pitchFamily="34" charset="0"/>
                <a:ea typeface="Calibri" pitchFamily="34" charset="-122"/>
                <a:cs typeface="Calibri" pitchFamily="34" charset="-120"/>
              </a:rPr>
              <a:t>PART B</a:t>
            </a:r>
            <a:endParaRPr lang="en-US" sz="1600" dirty="0"/>
          </a:p>
        </p:txBody>
      </p:sp>
      <p:sp>
        <p:nvSpPr>
          <p:cNvPr id="3" name="Text 1"/>
          <p:cNvSpPr txBox="1"/>
          <p:nvPr/>
        </p:nvSpPr>
        <p:spPr>
          <a:xfrm>
            <a:off x="731520" y="2926080"/>
            <a:ext cx="10698480" cy="91440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Using AI in text analysis</a:t>
            </a:r>
            <a:endParaRPr lang="en-US" sz="4400" dirty="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548640"/>
            <a:ext cx="10698480" cy="73152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Five places AI fit in</a:t>
            </a:r>
            <a:endParaRPr lang="en-US" sz="4400" dirty="0">
              <a:latin typeface="+mj-lt"/>
            </a:endParaRPr>
          </a:p>
        </p:txBody>
      </p:sp>
      <p:sp>
        <p:nvSpPr>
          <p:cNvPr id="3" name="Text 1"/>
          <p:cNvSpPr txBox="1"/>
          <p:nvPr/>
        </p:nvSpPr>
        <p:spPr>
          <a:xfrm>
            <a:off x="749808" y="1234440"/>
            <a:ext cx="10515600" cy="457200"/>
          </a:xfrm>
          <a:prstGeom prst="rect">
            <a:avLst/>
          </a:prstGeom>
          <a:noFill/>
          <a:ln/>
        </p:spPr>
        <p:txBody>
          <a:bodyPr wrap="square" lIns="0" tIns="0" rIns="0" bIns="0" rtlCol="0" anchor="ctr"/>
          <a:lstStyle/>
          <a:p>
            <a:pPr marL="0" indent="0">
              <a:buNone/>
            </a:pPr>
            <a:r>
              <a:rPr lang="en-US" sz="2000" i="1" dirty="0">
                <a:solidFill>
                  <a:srgbClr val="666666"/>
                </a:solidFill>
                <a:latin typeface="Calibri" pitchFamily="34" charset="0"/>
                <a:ea typeface="Calibri" pitchFamily="34" charset="-122"/>
                <a:cs typeface="Calibri" pitchFamily="34" charset="-120"/>
              </a:rPr>
              <a:t>Not to replace your thinking — to speed up the parts around it</a:t>
            </a:r>
            <a:endParaRPr lang="en-US" sz="2000" dirty="0"/>
          </a:p>
        </p:txBody>
      </p:sp>
      <p:sp>
        <p:nvSpPr>
          <p:cNvPr id="4" name="Text 2"/>
          <p:cNvSpPr txBox="1"/>
          <p:nvPr/>
        </p:nvSpPr>
        <p:spPr>
          <a:xfrm>
            <a:off x="731520" y="1816059"/>
            <a:ext cx="6403798" cy="4069080"/>
          </a:xfrm>
          <a:prstGeom prst="rect">
            <a:avLst/>
          </a:prstGeom>
          <a:noFill/>
          <a:ln/>
        </p:spPr>
        <p:txBody>
          <a:bodyPr wrap="square" lIns="0" tIns="0" rIns="0" bIns="0" rtlCol="0" anchor="t"/>
          <a:lstStyle/>
          <a:p>
            <a:pPr marL="228600" indent="-228600">
              <a:spcAft>
                <a:spcPts val="900"/>
              </a:spcAft>
              <a:buSzPct val="100000"/>
              <a:buChar char="•"/>
            </a:pPr>
            <a:r>
              <a:rPr lang="en-US" sz="2200" dirty="0">
                <a:solidFill>
                  <a:srgbClr val="222222"/>
                </a:solidFill>
                <a:ea typeface="Calibri" pitchFamily="34" charset="-122"/>
                <a:cs typeface="Calibri" pitchFamily="34" charset="-120"/>
              </a:rPr>
              <a:t>Brainstorm the topic and source</a:t>
            </a:r>
            <a:endParaRPr lang="en-US" sz="2200" dirty="0"/>
          </a:p>
          <a:p>
            <a:pPr marL="228600" indent="-228600">
              <a:spcAft>
                <a:spcPts val="900"/>
              </a:spcAft>
              <a:buSzPct val="100000"/>
              <a:buChar char="•"/>
            </a:pPr>
            <a:r>
              <a:rPr lang="en-US" sz="2200" dirty="0">
                <a:solidFill>
                  <a:srgbClr val="222222"/>
                </a:solidFill>
                <a:ea typeface="Calibri" pitchFamily="34" charset="-122"/>
                <a:cs typeface="Calibri" pitchFamily="34" charset="-120"/>
              </a:rPr>
              <a:t>Finding references</a:t>
            </a:r>
          </a:p>
          <a:p>
            <a:pPr marL="228600" indent="-228600">
              <a:spcAft>
                <a:spcPts val="900"/>
              </a:spcAft>
              <a:buSzPct val="100000"/>
              <a:buFontTx/>
              <a:buChar char="•"/>
            </a:pPr>
            <a:r>
              <a:rPr lang="en-US" sz="2200" dirty="0">
                <a:solidFill>
                  <a:srgbClr val="222222"/>
                </a:solidFill>
                <a:ea typeface="Calibri" pitchFamily="34" charset="-122"/>
                <a:cs typeface="Calibri" pitchFamily="34" charset="-120"/>
              </a:rPr>
              <a:t>Explore your data and scope the analysis</a:t>
            </a:r>
            <a:endParaRPr lang="en-US" sz="2200" dirty="0"/>
          </a:p>
          <a:p>
            <a:pPr marL="228600" indent="-228600">
              <a:spcAft>
                <a:spcPts val="900"/>
              </a:spcAft>
              <a:buSzPct val="100000"/>
              <a:buChar char="•"/>
            </a:pPr>
            <a:r>
              <a:rPr lang="en-US" sz="2200" dirty="0">
                <a:solidFill>
                  <a:srgbClr val="222222"/>
                </a:solidFill>
                <a:ea typeface="Calibri" pitchFamily="34" charset="-122"/>
                <a:cs typeface="Calibri" pitchFamily="34" charset="-120"/>
              </a:rPr>
              <a:t>Code support: </a:t>
            </a:r>
          </a:p>
          <a:p>
            <a:pPr>
              <a:spcAft>
                <a:spcPts val="900"/>
              </a:spcAft>
              <a:buSzPct val="100000"/>
            </a:pPr>
            <a:r>
              <a:rPr lang="en-US" sz="2200" dirty="0">
                <a:solidFill>
                  <a:schemeClr val="tx1">
                    <a:lumMod val="50000"/>
                    <a:lumOff val="50000"/>
                  </a:schemeClr>
                </a:solidFill>
                <a:ea typeface="Calibri" pitchFamily="34" charset="-122"/>
                <a:cs typeface="Calibri" pitchFamily="34" charset="-120"/>
              </a:rPr>
              <a:t>	- Write, fix and understand the code</a:t>
            </a:r>
          </a:p>
          <a:p>
            <a:pPr>
              <a:spcAft>
                <a:spcPts val="900"/>
              </a:spcAft>
              <a:buSzPct val="100000"/>
            </a:pPr>
            <a:r>
              <a:rPr lang="en-US" sz="2200" dirty="0">
                <a:solidFill>
                  <a:srgbClr val="222222"/>
                </a:solidFill>
                <a:ea typeface="Calibri" pitchFamily="34" charset="-122"/>
                <a:cs typeface="Calibri" pitchFamily="34" charset="-120"/>
              </a:rPr>
              <a:t>	- </a:t>
            </a:r>
            <a:r>
              <a:rPr lang="en-US" sz="2200" dirty="0">
                <a:solidFill>
                  <a:schemeClr val="bg2">
                    <a:lumMod val="50000"/>
                  </a:schemeClr>
                </a:solidFill>
                <a:ea typeface="Calibri" pitchFamily="34" charset="-122"/>
                <a:cs typeface="Calibri" pitchFamily="34" charset="-120"/>
              </a:rPr>
              <a:t>Analysis, trouble shooting and visualization</a:t>
            </a:r>
          </a:p>
          <a:p>
            <a:pPr marL="228600" indent="-228600">
              <a:spcAft>
                <a:spcPts val="900"/>
              </a:spcAft>
              <a:buSzPct val="100000"/>
              <a:buChar char="•"/>
            </a:pPr>
            <a:r>
              <a:rPr lang="en-US" sz="2200" dirty="0">
                <a:solidFill>
                  <a:srgbClr val="222222"/>
                </a:solidFill>
                <a:ea typeface="Calibri" pitchFamily="34" charset="-122"/>
                <a:cs typeface="Calibri" pitchFamily="34" charset="-120"/>
              </a:rPr>
              <a:t>Writing</a:t>
            </a:r>
            <a:endParaRPr lang="en-US" sz="2200" dirty="0">
              <a:solidFill>
                <a:srgbClr val="222222"/>
              </a:solidFill>
              <a:cs typeface="Calibri" pitchFamily="34" charset="-120"/>
            </a:endParaRPr>
          </a:p>
          <a:p>
            <a:pPr>
              <a:spcAft>
                <a:spcPts val="900"/>
              </a:spcAft>
              <a:buSzPct val="100000"/>
            </a:pPr>
            <a:endParaRPr lang="en-US" sz="2200" dirty="0"/>
          </a:p>
        </p:txBody>
      </p:sp>
      <p:pic>
        <p:nvPicPr>
          <p:cNvPr id="6" name="Picture 5">
            <a:extLst>
              <a:ext uri="{FF2B5EF4-FFF2-40B4-BE49-F238E27FC236}">
                <a16:creationId xmlns:a16="http://schemas.microsoft.com/office/drawing/2014/main" id="{352074FA-02FF-AB24-4EB5-C85FCD2F5688}"/>
              </a:ext>
            </a:extLst>
          </p:cNvPr>
          <p:cNvPicPr>
            <a:picLocks noChangeAspect="1"/>
          </p:cNvPicPr>
          <p:nvPr/>
        </p:nvPicPr>
        <p:blipFill>
          <a:blip r:embed="rId3"/>
          <a:stretch>
            <a:fillRect/>
          </a:stretch>
        </p:blipFill>
        <p:spPr>
          <a:xfrm>
            <a:off x="7911808" y="1115110"/>
            <a:ext cx="3764098" cy="1876821"/>
          </a:xfrm>
          <a:prstGeom prst="rect">
            <a:avLst/>
          </a:prstGeom>
        </p:spPr>
      </p:pic>
      <p:sp>
        <p:nvSpPr>
          <p:cNvPr id="11" name="TextBox 10">
            <a:extLst>
              <a:ext uri="{FF2B5EF4-FFF2-40B4-BE49-F238E27FC236}">
                <a16:creationId xmlns:a16="http://schemas.microsoft.com/office/drawing/2014/main" id="{B18771DE-9EC3-FEC8-7211-283B9B95817D}"/>
              </a:ext>
            </a:extLst>
          </p:cNvPr>
          <p:cNvSpPr txBox="1"/>
          <p:nvPr/>
        </p:nvSpPr>
        <p:spPr>
          <a:xfrm>
            <a:off x="7911808" y="3677731"/>
            <a:ext cx="3899010" cy="1477328"/>
          </a:xfrm>
          <a:prstGeom prst="rect">
            <a:avLst/>
          </a:prstGeom>
          <a:noFill/>
        </p:spPr>
        <p:txBody>
          <a:bodyPr wrap="square" rtlCol="0">
            <a:spAutoFit/>
          </a:bodyPr>
          <a:lstStyle/>
          <a:p>
            <a:endParaRPr lang="en-US" dirty="0"/>
          </a:p>
          <a:p>
            <a:r>
              <a:rPr lang="en-US" dirty="0">
                <a:hlinkClick r:id="rId4"/>
              </a:rPr>
              <a:t>AI tools that enable through UVA IT</a:t>
            </a:r>
            <a:endParaRPr lang="en-US" dirty="0"/>
          </a:p>
          <a:p>
            <a:endParaRPr lang="en-US" dirty="0"/>
          </a:p>
          <a:p>
            <a:endParaRPr lang="en-US"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548640"/>
            <a:ext cx="10698480" cy="73152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Brainstorm, scope, references</a:t>
            </a:r>
            <a:endParaRPr lang="en-US" sz="4400" dirty="0">
              <a:latin typeface="+mj-lt"/>
            </a:endParaRPr>
          </a:p>
        </p:txBody>
      </p:sp>
      <p:sp>
        <p:nvSpPr>
          <p:cNvPr id="3" name="Text 1"/>
          <p:cNvSpPr txBox="1"/>
          <p:nvPr/>
        </p:nvSpPr>
        <p:spPr>
          <a:xfrm>
            <a:off x="731520" y="1415072"/>
            <a:ext cx="10931271" cy="4774367"/>
          </a:xfrm>
          <a:prstGeom prst="rect">
            <a:avLst/>
          </a:prstGeom>
          <a:noFill/>
          <a:ln/>
        </p:spPr>
        <p:txBody>
          <a:bodyPr wrap="square" lIns="0" tIns="0" rIns="0" bIns="0" rtlCol="0" anchor="t"/>
          <a:lstStyle/>
          <a:p>
            <a:pPr marL="228600" indent="-228600">
              <a:spcAft>
                <a:spcPts val="900"/>
              </a:spcAft>
              <a:buSzPct val="100000"/>
              <a:buChar char="•"/>
            </a:pPr>
            <a:r>
              <a:rPr lang="en-US" sz="2200" b="1" dirty="0">
                <a:solidFill>
                  <a:srgbClr val="222222"/>
                </a:solidFill>
                <a:latin typeface="Calibri" pitchFamily="34" charset="0"/>
                <a:ea typeface="Calibri" pitchFamily="34" charset="-122"/>
                <a:cs typeface="Calibri" pitchFamily="34" charset="-120"/>
              </a:rPr>
              <a:t>Brainstorm topic &amp; source</a:t>
            </a:r>
            <a:endParaRPr lang="en-US" sz="2200" b="1" dirty="0"/>
          </a:p>
          <a:p>
            <a:pPr>
              <a:spcAft>
                <a:spcPts val="900"/>
              </a:spcAft>
              <a:buSzPct val="100000"/>
            </a:pPr>
            <a:r>
              <a:rPr lang="en-US" sz="2200" dirty="0">
                <a:solidFill>
                  <a:srgbClr val="666666"/>
                </a:solidFill>
                <a:latin typeface="Calibri" pitchFamily="34" charset="0"/>
                <a:ea typeface="Calibri" pitchFamily="34" charset="-122"/>
                <a:cs typeface="Calibri" pitchFamily="34" charset="-120"/>
              </a:rPr>
              <a:t>     Relevant to the community, meaningful, free of content restrictions.</a:t>
            </a:r>
            <a:endParaRPr lang="en-US" sz="2200" dirty="0"/>
          </a:p>
          <a:p>
            <a:pPr marL="228600" indent="-228600">
              <a:spcAft>
                <a:spcPts val="900"/>
              </a:spcAft>
              <a:buSzPct val="100000"/>
              <a:buChar char="•"/>
            </a:pPr>
            <a:r>
              <a:rPr lang="en-US" sz="2200" dirty="0">
                <a:latin typeface="Calibri" pitchFamily="34" charset="0"/>
                <a:ea typeface="Calibri" pitchFamily="34" charset="-122"/>
                <a:cs typeface="Calibri" pitchFamily="34" charset="-120"/>
              </a:rPr>
              <a:t>Explore the content</a:t>
            </a:r>
          </a:p>
          <a:p>
            <a:pPr>
              <a:spcAft>
                <a:spcPts val="900"/>
              </a:spcAft>
              <a:buSzPct val="100000"/>
            </a:pPr>
            <a:r>
              <a:rPr lang="en-US" sz="2200" dirty="0">
                <a:solidFill>
                  <a:srgbClr val="666666"/>
                </a:solidFill>
                <a:latin typeface="Calibri" pitchFamily="34" charset="0"/>
                <a:ea typeface="Calibri" pitchFamily="34" charset="-122"/>
                <a:cs typeface="Calibri" pitchFamily="34" charset="-120"/>
              </a:rPr>
              <a:t>     AI can </a:t>
            </a:r>
            <a:r>
              <a:rPr lang="en-US" sz="2200" dirty="0">
                <a:solidFill>
                  <a:srgbClr val="666666"/>
                </a:solidFill>
                <a:latin typeface="Calibri" pitchFamily="34" charset="0"/>
                <a:cs typeface="Calibri" pitchFamily="34" charset="-120"/>
              </a:rPr>
              <a:t>summarize the contents (e.g., transcripts)</a:t>
            </a:r>
          </a:p>
          <a:p>
            <a:pPr>
              <a:spcAft>
                <a:spcPts val="900"/>
              </a:spcAft>
              <a:buSzPct val="100000"/>
            </a:pPr>
            <a:r>
              <a:rPr lang="en-US" sz="2200" dirty="0">
                <a:solidFill>
                  <a:srgbClr val="666666"/>
                </a:solidFill>
                <a:latin typeface="Calibri" pitchFamily="34" charset="0"/>
                <a:cs typeface="Calibri" pitchFamily="34" charset="-120"/>
              </a:rPr>
              <a:t>     identify themes, suggest connections among ideas, concepts, events.</a:t>
            </a:r>
          </a:p>
          <a:p>
            <a:pPr marL="228600" indent="-228600">
              <a:spcAft>
                <a:spcPts val="900"/>
              </a:spcAft>
              <a:buSzPct val="100000"/>
              <a:buChar char="•"/>
            </a:pPr>
            <a:r>
              <a:rPr lang="en-US" sz="2200" b="1" dirty="0">
                <a:solidFill>
                  <a:srgbClr val="222222"/>
                </a:solidFill>
                <a:latin typeface="Calibri" pitchFamily="34" charset="0"/>
                <a:ea typeface="Calibri" pitchFamily="34" charset="-122"/>
                <a:cs typeface="Calibri" pitchFamily="34" charset="-120"/>
              </a:rPr>
              <a:t>Scope the analysis</a:t>
            </a:r>
            <a:endParaRPr lang="en-US" sz="2200" b="1" dirty="0"/>
          </a:p>
          <a:p>
            <a:pPr>
              <a:spcAft>
                <a:spcPts val="900"/>
              </a:spcAft>
              <a:buSzPct val="100000"/>
            </a:pPr>
            <a:r>
              <a:rPr lang="en-US" sz="2200" dirty="0">
                <a:solidFill>
                  <a:srgbClr val="666666"/>
                </a:solidFill>
                <a:latin typeface="Calibri" pitchFamily="34" charset="0"/>
                <a:ea typeface="Calibri" pitchFamily="34" charset="-122"/>
                <a:cs typeface="Calibri" pitchFamily="34" charset="-120"/>
              </a:rPr>
              <a:t>     AI offered many options; we chose one theme — e.g., comparing four groups.</a:t>
            </a:r>
            <a:endParaRPr lang="en-US" sz="2200" dirty="0"/>
          </a:p>
          <a:p>
            <a:pPr marL="228600" indent="-228600">
              <a:spcAft>
                <a:spcPts val="900"/>
              </a:spcAft>
              <a:buSzPct val="100000"/>
              <a:buChar char="•"/>
            </a:pPr>
            <a:r>
              <a:rPr lang="en-US" sz="2200" b="1" dirty="0">
                <a:solidFill>
                  <a:srgbClr val="222222"/>
                </a:solidFill>
                <a:latin typeface="Calibri" pitchFamily="34" charset="0"/>
                <a:ea typeface="Calibri" pitchFamily="34" charset="-122"/>
                <a:cs typeface="Calibri" pitchFamily="34" charset="-120"/>
              </a:rPr>
              <a:t>Search references</a:t>
            </a:r>
            <a:endParaRPr lang="en-US" sz="2200" dirty="0"/>
          </a:p>
          <a:p>
            <a:pPr marL="228600" lvl="1">
              <a:spcAft>
                <a:spcPts val="500"/>
              </a:spcAft>
              <a:buSzPct val="100000"/>
            </a:pPr>
            <a:r>
              <a:rPr lang="en-US" sz="2200" dirty="0">
                <a:solidFill>
                  <a:srgbClr val="666666"/>
                </a:solidFill>
                <a:latin typeface="Calibri" pitchFamily="34" charset="0"/>
                <a:ea typeface="Calibri" pitchFamily="34" charset="-122"/>
                <a:cs typeface="Calibri" pitchFamily="34" charset="-120"/>
              </a:rPr>
              <a:t>AI also useful finding references, but verify each one (AI invents citations)</a:t>
            </a:r>
          </a:p>
          <a:p>
            <a:pPr marL="228600" lvl="1">
              <a:spcAft>
                <a:spcPts val="500"/>
              </a:spcAft>
              <a:buSzPct val="100000"/>
            </a:pPr>
            <a:r>
              <a:rPr lang="en-US" sz="2200" dirty="0">
                <a:solidFill>
                  <a:srgbClr val="666666"/>
                </a:solidFill>
                <a:latin typeface="Calibri" pitchFamily="34" charset="0"/>
                <a:cs typeface="Calibri" pitchFamily="34" charset="-120"/>
              </a:rPr>
              <a:t>Reliable AI search tools grounded in peer-reviewed papers: </a:t>
            </a:r>
            <a:r>
              <a:rPr lang="en-US" sz="2200" b="1" dirty="0">
                <a:solidFill>
                  <a:schemeClr val="accent1">
                    <a:lumMod val="50000"/>
                  </a:schemeClr>
                </a:solidFill>
                <a:latin typeface="Calibri" pitchFamily="34" charset="0"/>
                <a:cs typeface="Calibri" pitchFamily="34" charset="-120"/>
              </a:rPr>
              <a:t>Consensus and </a:t>
            </a:r>
            <a:r>
              <a:rPr lang="en-US" sz="2200" b="1" dirty="0" err="1">
                <a:solidFill>
                  <a:schemeClr val="accent1">
                    <a:lumMod val="50000"/>
                  </a:schemeClr>
                </a:solidFill>
                <a:latin typeface="Calibri" pitchFamily="34" charset="0"/>
                <a:cs typeface="Calibri" pitchFamily="34" charset="-120"/>
              </a:rPr>
              <a:t>LeapSpace</a:t>
            </a:r>
            <a:r>
              <a:rPr lang="en-US" sz="2200" b="1" dirty="0">
                <a:solidFill>
                  <a:schemeClr val="accent1">
                    <a:lumMod val="50000"/>
                  </a:schemeClr>
                </a:solidFill>
                <a:latin typeface="Calibri" pitchFamily="34" charset="0"/>
                <a:cs typeface="Calibri" pitchFamily="34" charset="-120"/>
              </a:rPr>
              <a:t> </a:t>
            </a:r>
            <a:r>
              <a:rPr lang="en-US" sz="2200" dirty="0">
                <a:solidFill>
                  <a:srgbClr val="666666"/>
                </a:solidFill>
                <a:latin typeface="Calibri" pitchFamily="34" charset="0"/>
                <a:cs typeface="Calibri" pitchFamily="34" charset="-120"/>
              </a:rPr>
              <a:t>(UVA subscribe)</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548640"/>
            <a:ext cx="10698480" cy="73152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Coding support: how to ask</a:t>
            </a:r>
            <a:endParaRPr lang="en-US" sz="4400" dirty="0">
              <a:latin typeface="+mj-lt"/>
            </a:endParaRPr>
          </a:p>
        </p:txBody>
      </p:sp>
      <p:sp>
        <p:nvSpPr>
          <p:cNvPr id="3" name="Text 1"/>
          <p:cNvSpPr txBox="1"/>
          <p:nvPr/>
        </p:nvSpPr>
        <p:spPr>
          <a:xfrm>
            <a:off x="822960" y="1737360"/>
            <a:ext cx="10515600" cy="3809001"/>
          </a:xfrm>
          <a:prstGeom prst="rect">
            <a:avLst/>
          </a:prstGeom>
          <a:noFill/>
          <a:ln/>
        </p:spPr>
        <p:txBody>
          <a:bodyPr wrap="square" lIns="0" tIns="0" rIns="0" bIns="0" rtlCol="0" anchor="t"/>
          <a:lstStyle/>
          <a:p>
            <a:pPr marL="228600" indent="-228600">
              <a:spcAft>
                <a:spcPts val="900"/>
              </a:spcAft>
              <a:buSzPct val="100000"/>
              <a:buChar char="•"/>
            </a:pPr>
            <a:r>
              <a:rPr lang="en-US" sz="2200" dirty="0">
                <a:solidFill>
                  <a:srgbClr val="222222"/>
                </a:solidFill>
                <a:ea typeface="Calibri" pitchFamily="34" charset="-122"/>
                <a:cs typeface="Calibri" pitchFamily="34" charset="-120"/>
              </a:rPr>
              <a:t>This is AI as an assistant — not full agentic coding (Codex, etc.).</a:t>
            </a: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Give AI context — and the context is your data structure </a:t>
            </a:r>
            <a:endParaRPr lang="en-US" sz="2200" b="1" dirty="0"/>
          </a:p>
          <a:p>
            <a:pPr marL="685800" lvl="1" indent="-228600">
              <a:spcAft>
                <a:spcPts val="900"/>
              </a:spcAft>
              <a:buSzPct val="100000"/>
              <a:buChar char="•"/>
            </a:pPr>
            <a:r>
              <a:rPr lang="en-US" sz="2200" dirty="0">
                <a:solidFill>
                  <a:srgbClr val="222222"/>
                </a:solidFill>
                <a:ea typeface="Calibri" pitchFamily="34" charset="-122"/>
                <a:cs typeface="Calibri" pitchFamily="34" charset="-120"/>
              </a:rPr>
              <a:t>Screenshots are useful!</a:t>
            </a:r>
          </a:p>
          <a:p>
            <a:pPr lvl="2" indent="-228600">
              <a:spcAft>
                <a:spcPts val="500"/>
              </a:spcAft>
              <a:buSzPct val="100000"/>
              <a:buChar char="•"/>
            </a:pPr>
            <a:r>
              <a:rPr lang="en-US" sz="2200" dirty="0">
                <a:solidFill>
                  <a:srgbClr val="666666"/>
                </a:solidFill>
                <a:ea typeface="Calibri" pitchFamily="34" charset="-122"/>
                <a:cs typeface="Calibri" pitchFamily="34" charset="-120"/>
              </a:rPr>
              <a:t>Lighter memory — a small screenshot  or output of </a:t>
            </a:r>
            <a:r>
              <a:rPr lang="en-US" sz="2200" b="1" dirty="0">
                <a:solidFill>
                  <a:srgbClr val="666666"/>
                </a:solidFill>
                <a:ea typeface="Calibri" pitchFamily="34" charset="-122"/>
                <a:cs typeface="Calibri" pitchFamily="34" charset="-120"/>
              </a:rPr>
              <a:t>str(data) </a:t>
            </a:r>
            <a:r>
              <a:rPr lang="en-US" sz="2200" dirty="0">
                <a:solidFill>
                  <a:srgbClr val="666666"/>
                </a:solidFill>
                <a:ea typeface="Calibri" pitchFamily="34" charset="-122"/>
                <a:cs typeface="Calibri" pitchFamily="34" charset="-120"/>
              </a:rPr>
              <a:t>conveys the shape without a huge paste.</a:t>
            </a:r>
            <a:endParaRPr lang="en-US" sz="2200" dirty="0"/>
          </a:p>
          <a:p>
            <a:pPr lvl="2" indent="-228600">
              <a:spcAft>
                <a:spcPts val="500"/>
              </a:spcAft>
              <a:buSzPct val="100000"/>
              <a:buChar char="•"/>
            </a:pPr>
            <a:r>
              <a:rPr lang="en-US" sz="2200" dirty="0">
                <a:solidFill>
                  <a:srgbClr val="666666"/>
                </a:solidFill>
                <a:ea typeface="Calibri" pitchFamily="34" charset="-122"/>
                <a:cs typeface="Calibri" pitchFamily="34" charset="-120"/>
              </a:rPr>
              <a:t>Safer — keeps the actual data out of the tool.</a:t>
            </a:r>
            <a:endParaRPr lang="en-US" sz="2200" dirty="0">
              <a:solidFill>
                <a:srgbClr val="222222"/>
              </a:solidFill>
              <a:ea typeface="Calibri" pitchFamily="34" charset="-122"/>
              <a:cs typeface="Calibri" pitchFamily="34" charset="-120"/>
            </a:endParaRPr>
          </a:p>
          <a:p>
            <a:pPr marL="685800" lvl="1" indent="-228600">
              <a:spcAft>
                <a:spcPts val="900"/>
              </a:spcAft>
              <a:buSzPct val="100000"/>
              <a:buChar char="•"/>
            </a:pPr>
            <a:r>
              <a:rPr lang="en-US" sz="2200" dirty="0">
                <a:solidFill>
                  <a:srgbClr val="222222"/>
                </a:solidFill>
                <a:cs typeface="Calibri" pitchFamily="34" charset="-120"/>
              </a:rPr>
              <a:t>Ask precisely –  the more specific, </a:t>
            </a:r>
            <a:r>
              <a:rPr lang="en-US" sz="2200" dirty="0" err="1">
                <a:solidFill>
                  <a:srgbClr val="222222"/>
                </a:solidFill>
                <a:cs typeface="Calibri" pitchFamily="34" charset="-120"/>
              </a:rPr>
              <a:t>explict</a:t>
            </a:r>
            <a:r>
              <a:rPr lang="en-US" sz="2200" dirty="0">
                <a:solidFill>
                  <a:srgbClr val="222222"/>
                </a:solidFill>
                <a:cs typeface="Calibri" pitchFamily="34" charset="-120"/>
              </a:rPr>
              <a:t> prompt, the better the code</a:t>
            </a:r>
            <a:endParaRPr lang="en-US" sz="2200" dirty="0"/>
          </a:p>
          <a:p>
            <a:pPr marL="685800" lvl="2">
              <a:spcAft>
                <a:spcPts val="500"/>
              </a:spcAft>
              <a:buSzPct val="100000"/>
            </a:pPr>
            <a:r>
              <a:rPr lang="en-US" sz="2200" dirty="0">
                <a:solidFill>
                  <a:srgbClr val="222222"/>
                </a:solidFill>
                <a:ea typeface="Calibri" pitchFamily="34" charset="-122"/>
                <a:cs typeface="Calibri" pitchFamily="34" charset="-120"/>
              </a:rPr>
              <a:t>.</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80654-64CE-67AE-2E90-CCE1D82FD4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2310B3E-C24F-72FA-3EA9-F96A87CC471F}"/>
              </a:ext>
            </a:extLst>
          </p:cNvPr>
          <p:cNvSpPr txBox="1"/>
          <p:nvPr/>
        </p:nvSpPr>
        <p:spPr>
          <a:xfrm>
            <a:off x="741680" y="457200"/>
            <a:ext cx="10698480" cy="731520"/>
          </a:xfrm>
          <a:prstGeom prst="rect">
            <a:avLst/>
          </a:prstGeom>
          <a:noFill/>
          <a:ln/>
        </p:spPr>
        <p:txBody>
          <a:bodyPr wrap="square" lIns="0" tIns="0" rIns="0" bIns="0" rtlCol="0" anchor="ctr"/>
          <a:lstStyle/>
          <a:p>
            <a:r>
              <a:rPr lang="en-US" sz="4400" b="1" dirty="0">
                <a:solidFill>
                  <a:srgbClr val="1A1A1A"/>
                </a:solidFill>
                <a:latin typeface="+mj-lt"/>
                <a:ea typeface="Calibri" pitchFamily="34" charset="-122"/>
                <a:cs typeface="Calibri" pitchFamily="34" charset="-120"/>
              </a:rPr>
              <a:t>Coding support: fixing &amp; understanding</a:t>
            </a:r>
            <a:endParaRPr lang="en-US" sz="4400" dirty="0">
              <a:latin typeface="+mj-lt"/>
            </a:endParaRPr>
          </a:p>
        </p:txBody>
      </p:sp>
      <p:sp>
        <p:nvSpPr>
          <p:cNvPr id="3" name="Text 1">
            <a:extLst>
              <a:ext uri="{FF2B5EF4-FFF2-40B4-BE49-F238E27FC236}">
                <a16:creationId xmlns:a16="http://schemas.microsoft.com/office/drawing/2014/main" id="{BBD1F440-BCA6-02F1-9AE7-3435F6DBA300}"/>
              </a:ext>
            </a:extLst>
          </p:cNvPr>
          <p:cNvSpPr txBox="1"/>
          <p:nvPr/>
        </p:nvSpPr>
        <p:spPr>
          <a:xfrm>
            <a:off x="833120" y="1463040"/>
            <a:ext cx="10515600" cy="4937760"/>
          </a:xfrm>
          <a:prstGeom prst="rect">
            <a:avLst/>
          </a:prstGeom>
          <a:noFill/>
          <a:ln/>
        </p:spPr>
        <p:txBody>
          <a:bodyPr wrap="square" lIns="0" tIns="0" rIns="0" bIns="0" rtlCol="0" anchor="t"/>
          <a:lstStyle/>
          <a:p>
            <a:pPr marL="228600" indent="-228600">
              <a:spcAft>
                <a:spcPts val="900"/>
              </a:spcAft>
              <a:buSzPct val="100000"/>
              <a:buChar char="•"/>
            </a:pPr>
            <a:r>
              <a:rPr lang="en-US" sz="2200" b="1" dirty="0">
                <a:solidFill>
                  <a:srgbClr val="222222"/>
                </a:solidFill>
                <a:ea typeface="Calibri" pitchFamily="34" charset="-122"/>
                <a:cs typeface="Calibri" pitchFamily="34" charset="-120"/>
              </a:rPr>
              <a:t>Troubleshooting</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Screenshot your code AND the output together. Feed both.</a:t>
            </a:r>
          </a:p>
          <a:p>
            <a:pPr marL="457200" lvl="1" indent="-228600">
              <a:spcAft>
                <a:spcPts val="500"/>
              </a:spcAft>
              <a:buSzPct val="100000"/>
              <a:buChar char="•"/>
            </a:pP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Understand the code</a:t>
            </a:r>
            <a:endParaRPr lang="en-US" sz="2200" dirty="0"/>
          </a:p>
          <a:p>
            <a:pPr marL="457200" lvl="1" indent="-228600">
              <a:spcAft>
                <a:spcPts val="500"/>
              </a:spcAft>
              <a:buSzPct val="100000"/>
              <a:buChar char="•"/>
            </a:pPr>
            <a:r>
              <a:rPr lang="en-US" sz="2200" dirty="0">
                <a:solidFill>
                  <a:srgbClr val="666666"/>
                </a:solidFill>
                <a:ea typeface="Calibri" pitchFamily="34" charset="-122"/>
                <a:cs typeface="Calibri" pitchFamily="34" charset="-120"/>
              </a:rPr>
              <a:t>When you are unsure  about specific code,  paste the whole script ( context matters! ) and ask what each line does. </a:t>
            </a:r>
          </a:p>
          <a:p>
            <a:pPr marL="457200" lvl="1" indent="-228600">
              <a:spcAft>
                <a:spcPts val="500"/>
              </a:spcAft>
              <a:buSzPct val="100000"/>
              <a:buChar char="•"/>
            </a:pPr>
            <a:r>
              <a:rPr lang="en-US" sz="2200" dirty="0">
                <a:solidFill>
                  <a:srgbClr val="666666"/>
                </a:solidFill>
                <a:ea typeface="Calibri" pitchFamily="34" charset="-122"/>
                <a:cs typeface="Calibri" pitchFamily="34" charset="-120"/>
              </a:rPr>
              <a:t>Sometimes ask for an example what a specific part does. </a:t>
            </a:r>
          </a:p>
          <a:p>
            <a:pPr lvl="1" indent="-228600">
              <a:spcAft>
                <a:spcPts val="500"/>
              </a:spcAft>
              <a:buSzPct val="100000"/>
              <a:buFontTx/>
              <a:buChar char="•"/>
            </a:pP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Visualization</a:t>
            </a:r>
          </a:p>
          <a:p>
            <a:pPr marL="685800" lvl="1" indent="-228600">
              <a:spcAft>
                <a:spcPts val="900"/>
              </a:spcAft>
              <a:buSzPct val="100000"/>
              <a:buChar char="•"/>
            </a:pPr>
            <a:r>
              <a:rPr lang="en-US" sz="2200" dirty="0">
                <a:solidFill>
                  <a:srgbClr val="666666"/>
                </a:solidFill>
                <a:ea typeface="Calibri" pitchFamily="34" charset="-122"/>
                <a:cs typeface="Calibri" pitchFamily="34" charset="-120"/>
              </a:rPr>
              <a:t>Which chart best fits your data</a:t>
            </a:r>
            <a:r>
              <a:rPr lang="en-US" sz="2200" b="1" dirty="0">
                <a:solidFill>
                  <a:srgbClr val="222222"/>
                </a:solidFill>
                <a:ea typeface="Calibri" pitchFamily="34" charset="-122"/>
                <a:cs typeface="Calibri" pitchFamily="34" charset="-120"/>
              </a:rPr>
              <a:t> </a:t>
            </a:r>
            <a:endParaRPr lang="en-US" sz="2200" dirty="0"/>
          </a:p>
        </p:txBody>
      </p:sp>
    </p:spTree>
    <p:extLst>
      <p:ext uri="{BB962C8B-B14F-4D97-AF65-F5344CB8AC3E}">
        <p14:creationId xmlns:p14="http://schemas.microsoft.com/office/powerpoint/2010/main" val="4038190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41680" y="457200"/>
            <a:ext cx="10698480" cy="73152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Writing</a:t>
            </a:r>
            <a:endParaRPr lang="en-US" sz="4400" dirty="0">
              <a:latin typeface="+mj-lt"/>
            </a:endParaRPr>
          </a:p>
        </p:txBody>
      </p:sp>
      <p:sp>
        <p:nvSpPr>
          <p:cNvPr id="3" name="Text 1"/>
          <p:cNvSpPr txBox="1"/>
          <p:nvPr/>
        </p:nvSpPr>
        <p:spPr>
          <a:xfrm>
            <a:off x="833120" y="1463040"/>
            <a:ext cx="10515600" cy="4353144"/>
          </a:xfrm>
          <a:prstGeom prst="rect">
            <a:avLst/>
          </a:prstGeom>
          <a:noFill/>
          <a:ln/>
        </p:spPr>
        <p:txBody>
          <a:bodyPr wrap="square" lIns="0" tIns="0" rIns="0" bIns="0" rtlCol="0" anchor="t"/>
          <a:lstStyle/>
          <a:p>
            <a:pPr marL="228600" indent="-228600">
              <a:spcAft>
                <a:spcPts val="900"/>
              </a:spcAft>
              <a:buSzPct val="100000"/>
              <a:buChar char="•"/>
            </a:pPr>
            <a:r>
              <a:rPr lang="en-US" sz="2200" b="1" dirty="0">
                <a:solidFill>
                  <a:srgbClr val="222222"/>
                </a:solidFill>
                <a:ea typeface="Calibri" pitchFamily="34" charset="-122"/>
                <a:cs typeface="Calibri" pitchFamily="34" charset="-120"/>
              </a:rPr>
              <a:t>Polish the writing</a:t>
            </a:r>
          </a:p>
          <a:p>
            <a:pPr marL="685800" lvl="1" indent="-228600">
              <a:spcAft>
                <a:spcPts val="900"/>
              </a:spcAft>
              <a:buSzPct val="100000"/>
              <a:buFontTx/>
              <a:buChar char="•"/>
            </a:pPr>
            <a:r>
              <a:rPr lang="en-US" sz="2200" dirty="0">
                <a:solidFill>
                  <a:srgbClr val="666666"/>
                </a:solidFill>
                <a:ea typeface="Calibri" pitchFamily="34" charset="-122"/>
                <a:cs typeface="Calibri" pitchFamily="34" charset="-120"/>
              </a:rPr>
              <a:t>Tighten wording and clarify; keep your own argument and voice.</a:t>
            </a:r>
          </a:p>
          <a:p>
            <a:pPr>
              <a:spcAft>
                <a:spcPts val="900"/>
              </a:spcAft>
              <a:buSzPct val="100000"/>
            </a:pPr>
            <a:endParaRPr lang="en-US" sz="2200" b="1" dirty="0">
              <a:solidFill>
                <a:srgbClr val="222222"/>
              </a:solidFill>
              <a:ea typeface="Calibri" pitchFamily="34" charset="-122"/>
              <a:cs typeface="Calibri" pitchFamily="34" charset="-120"/>
            </a:endParaRPr>
          </a:p>
          <a:p>
            <a:pPr marL="228600" indent="-228600">
              <a:spcAft>
                <a:spcPts val="900"/>
              </a:spcAft>
              <a:buSzPct val="100000"/>
              <a:buFontTx/>
              <a:buChar char="•"/>
            </a:pPr>
            <a:r>
              <a:rPr lang="en-US" sz="2200" b="1" dirty="0"/>
              <a:t>Manage citations</a:t>
            </a:r>
          </a:p>
          <a:p>
            <a:pPr marL="685800" lvl="1" indent="-228600">
              <a:spcAft>
                <a:spcPts val="900"/>
              </a:spcAft>
              <a:buSzPct val="100000"/>
              <a:buFontTx/>
              <a:buChar char="•"/>
            </a:pPr>
            <a:r>
              <a:rPr lang="en-US" sz="2200" dirty="0">
                <a:solidFill>
                  <a:schemeClr val="tx1">
                    <a:lumMod val="50000"/>
                    <a:lumOff val="50000"/>
                  </a:schemeClr>
                </a:solidFill>
                <a:cs typeface="Calibri" pitchFamily="34" charset="-120"/>
              </a:rPr>
              <a:t>Format citations in different styles (e.g., APA, Chicago,) and organized reference in the appropriate order.</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548640"/>
            <a:ext cx="10698480" cy="731520"/>
          </a:xfrm>
          <a:prstGeom prst="rect">
            <a:avLst/>
          </a:prstGeom>
          <a:noFill/>
          <a:ln/>
        </p:spPr>
        <p:txBody>
          <a:bodyPr wrap="square" lIns="0" tIns="0" rIns="0" bIns="0" rtlCol="0" anchor="ctr"/>
          <a:lstStyle/>
          <a:p>
            <a:pPr marL="0" indent="0">
              <a:buNone/>
            </a:pPr>
            <a:r>
              <a:rPr lang="en-US" sz="4400" b="1" dirty="0">
                <a:solidFill>
                  <a:srgbClr val="1A1A1A"/>
                </a:solidFill>
                <a:latin typeface="+mj-lt"/>
                <a:ea typeface="Calibri" pitchFamily="34" charset="-122"/>
                <a:cs typeface="Calibri" pitchFamily="34" charset="-120"/>
              </a:rPr>
              <a:t>Limitations &amp; ethics</a:t>
            </a:r>
            <a:endParaRPr lang="en-US" sz="4400" dirty="0">
              <a:latin typeface="+mj-lt"/>
            </a:endParaRPr>
          </a:p>
        </p:txBody>
      </p:sp>
      <p:sp>
        <p:nvSpPr>
          <p:cNvPr id="3" name="Text 1"/>
          <p:cNvSpPr txBox="1"/>
          <p:nvPr/>
        </p:nvSpPr>
        <p:spPr>
          <a:xfrm>
            <a:off x="822960" y="1463040"/>
            <a:ext cx="10515600" cy="4248212"/>
          </a:xfrm>
          <a:prstGeom prst="rect">
            <a:avLst/>
          </a:prstGeom>
          <a:noFill/>
          <a:ln/>
        </p:spPr>
        <p:txBody>
          <a:bodyPr wrap="square" lIns="0" tIns="0" rIns="0" bIns="0" rtlCol="0" anchor="t"/>
          <a:lstStyle/>
          <a:p>
            <a:pPr marL="228600" indent="-228600">
              <a:spcAft>
                <a:spcPts val="900"/>
              </a:spcAft>
              <a:buSzPct val="100000"/>
              <a:buChar char="•"/>
            </a:pPr>
            <a:r>
              <a:rPr lang="en-US" sz="2200" dirty="0">
                <a:solidFill>
                  <a:srgbClr val="222222"/>
                </a:solidFill>
                <a:ea typeface="Calibri" pitchFamily="34" charset="-122"/>
                <a:cs typeface="Calibri" pitchFamily="34" charset="-120"/>
              </a:rPr>
              <a:t>AI invents citations — verify everything.</a:t>
            </a:r>
          </a:p>
          <a:p>
            <a:pPr marL="228600" indent="-228600">
              <a:spcAft>
                <a:spcPts val="900"/>
              </a:spcAft>
              <a:buSzPct val="100000"/>
              <a:buChar char="•"/>
            </a:pPr>
            <a:r>
              <a:rPr lang="en-US" sz="2200" dirty="0">
                <a:solidFill>
                  <a:srgbClr val="222222"/>
                </a:solidFill>
                <a:cs typeface="Calibri" pitchFamily="34" charset="-120"/>
              </a:rPr>
              <a:t>Understand what your codes does.</a:t>
            </a:r>
            <a:endParaRPr lang="en-US" sz="2200" dirty="0"/>
          </a:p>
          <a:p>
            <a:pPr marL="228600" indent="-228600">
              <a:spcAft>
                <a:spcPts val="900"/>
              </a:spcAft>
              <a:buSzPct val="100000"/>
              <a:buChar char="•"/>
            </a:pPr>
            <a:r>
              <a:rPr lang="en-US" sz="2200" dirty="0">
                <a:solidFill>
                  <a:srgbClr val="222222"/>
                </a:solidFill>
                <a:ea typeface="Calibri" pitchFamily="34" charset="-122"/>
                <a:cs typeface="Calibri" pitchFamily="34" charset="-120"/>
              </a:rPr>
              <a:t>Protect your data — share structure, not raw data.</a:t>
            </a:r>
          </a:p>
          <a:p>
            <a:pPr marL="228600" indent="-228600">
              <a:spcAft>
                <a:spcPts val="900"/>
              </a:spcAft>
              <a:buSzPct val="100000"/>
              <a:buFontTx/>
              <a:buChar char="•"/>
            </a:pPr>
            <a:r>
              <a:rPr lang="en-US" sz="2200" dirty="0">
                <a:solidFill>
                  <a:srgbClr val="222222"/>
                </a:solidFill>
                <a:cs typeface="Calibri" pitchFamily="34" charset="-120"/>
              </a:rPr>
              <a:t>Check the AI rules that apply to you — your institution’s and your field’s (UVA </a:t>
            </a:r>
            <a:r>
              <a:rPr lang="en-US" sz="2400" dirty="0">
                <a:hlinkClick r:id="rId3"/>
              </a:rPr>
              <a:t>AI Guidelines</a:t>
            </a:r>
            <a:r>
              <a:rPr lang="en-US" sz="2400" dirty="0"/>
              <a:t>)</a:t>
            </a:r>
            <a:endParaRPr lang="en-US" sz="2200" dirty="0"/>
          </a:p>
          <a:p>
            <a:pPr marL="228600" indent="-228600">
              <a:spcAft>
                <a:spcPts val="900"/>
              </a:spcAft>
              <a:buSzPct val="100000"/>
              <a:buChar char="•"/>
            </a:pPr>
            <a:r>
              <a:rPr lang="en-US" sz="2200" b="1" dirty="0">
                <a:solidFill>
                  <a:srgbClr val="222222"/>
                </a:solidFill>
                <a:ea typeface="Calibri" pitchFamily="34" charset="-122"/>
                <a:cs typeface="Calibri" pitchFamily="34" charset="-120"/>
              </a:rPr>
              <a:t>AI assists; you decide and stay accountable.</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2468880"/>
            <a:ext cx="10698480" cy="457200"/>
          </a:xfrm>
          <a:prstGeom prst="rect">
            <a:avLst/>
          </a:prstGeom>
          <a:noFill/>
          <a:ln/>
        </p:spPr>
        <p:txBody>
          <a:bodyPr wrap="square" lIns="0" tIns="0" rIns="0" bIns="0" rtlCol="0" anchor="ctr"/>
          <a:lstStyle/>
          <a:p>
            <a:pPr marL="0" indent="0">
              <a:buNone/>
            </a:pPr>
            <a:endParaRPr lang="en-US" sz="1600" dirty="0"/>
          </a:p>
        </p:txBody>
      </p:sp>
      <p:sp>
        <p:nvSpPr>
          <p:cNvPr id="3" name="Text 1"/>
          <p:cNvSpPr txBox="1"/>
          <p:nvPr/>
        </p:nvSpPr>
        <p:spPr>
          <a:xfrm>
            <a:off x="731520" y="2926080"/>
            <a:ext cx="10698480" cy="91440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Thank you — questions?</a:t>
            </a:r>
            <a:endParaRPr lang="en-US" sz="3400" dirty="0"/>
          </a:p>
        </p:txBody>
      </p:sp>
    </p:spTree>
    <p:extLst>
      <p:ext uri="{BB962C8B-B14F-4D97-AF65-F5344CB8AC3E}">
        <p14:creationId xmlns:p14="http://schemas.microsoft.com/office/powerpoint/2010/main" val="344020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614EE54-1624-D21E-50FB-6E96F1DB2E23}"/>
              </a:ext>
            </a:extLst>
          </p:cNvPr>
          <p:cNvSpPr>
            <a:spLocks noGrp="1"/>
          </p:cNvSpPr>
          <p:nvPr>
            <p:ph idx="1"/>
          </p:nvPr>
        </p:nvSpPr>
        <p:spPr>
          <a:xfrm>
            <a:off x="1040982" y="987725"/>
            <a:ext cx="6469089" cy="4523994"/>
          </a:xfrm>
        </p:spPr>
        <p:txBody>
          <a:bodyPr vert="horz" lIns="91440" tIns="45720" rIns="91440" bIns="45720" rtlCol="0" anchor="t">
            <a:normAutofit/>
          </a:bodyPr>
          <a:lstStyle/>
          <a:p>
            <a:endParaRPr lang="en-US" sz="2800" dirty="0">
              <a:ea typeface="+mn-lt"/>
              <a:cs typeface="+mn-lt"/>
              <a:hlinkClick r:id="rId3"/>
            </a:endParaRPr>
          </a:p>
          <a:p>
            <a:r>
              <a:rPr lang="en-US" sz="4000" dirty="0">
                <a:latin typeface="-webkit-standard"/>
              </a:rPr>
              <a:t>Walk-in hours: </a:t>
            </a:r>
          </a:p>
          <a:p>
            <a:r>
              <a:rPr lang="en-US" sz="2800" dirty="0">
                <a:latin typeface="-webkit-standard"/>
              </a:rPr>
              <a:t>	Tue 1–3 </a:t>
            </a:r>
          </a:p>
          <a:p>
            <a:r>
              <a:rPr lang="en-US" sz="2800" dirty="0">
                <a:latin typeface="-webkit-standard"/>
              </a:rPr>
              <a:t>	Wed 2–4 </a:t>
            </a:r>
          </a:p>
          <a:p>
            <a:r>
              <a:rPr lang="en-US" sz="2800" dirty="0">
                <a:latin typeface="-webkit-standard"/>
              </a:rPr>
              <a:t>	Thu 10–Noon</a:t>
            </a:r>
          </a:p>
          <a:p>
            <a:endParaRPr lang="en-US" sz="2800" dirty="0"/>
          </a:p>
          <a:p>
            <a:r>
              <a:rPr lang="en-US" sz="2800" dirty="0">
                <a:solidFill>
                  <a:schemeClr val="tx1">
                    <a:lumMod val="95000"/>
                  </a:schemeClr>
                </a:solidFill>
                <a:ea typeface="+mn-lt"/>
                <a:cs typeface="+mn-lt"/>
                <a:hlinkClick r:id="rId3">
                  <a:extLst>
                    <a:ext uri="{A12FA001-AC4F-418D-AE19-62706E023703}">
                      <ahyp:hlinkClr xmlns:ahyp="http://schemas.microsoft.com/office/drawing/2018/hyperlinkcolor" val="tx"/>
                    </a:ext>
                  </a:extLst>
                </a:hlinkClick>
              </a:rPr>
              <a:t>statlab@virginia.edu</a:t>
            </a:r>
            <a:r>
              <a:rPr lang="en-US" sz="2800" dirty="0">
                <a:solidFill>
                  <a:schemeClr val="tx1">
                    <a:lumMod val="95000"/>
                  </a:schemeClr>
                </a:solidFill>
                <a:latin typeface="-webkit-standard"/>
              </a:rPr>
              <a:t> </a:t>
            </a:r>
          </a:p>
          <a:p>
            <a:r>
              <a:rPr lang="en-US" sz="2800" dirty="0">
                <a:latin typeface="-webkit-standard"/>
              </a:rPr>
              <a:t>https://</a:t>
            </a:r>
            <a:r>
              <a:rPr lang="en-US" sz="2800" dirty="0" err="1">
                <a:latin typeface="-webkit-standard"/>
              </a:rPr>
              <a:t>library.virginia.edu</a:t>
            </a:r>
            <a:r>
              <a:rPr lang="en-US" sz="2800" dirty="0">
                <a:latin typeface="-webkit-standard"/>
              </a:rPr>
              <a:t>/data/</a:t>
            </a:r>
            <a:r>
              <a:rPr lang="en-US" sz="2800" dirty="0" err="1">
                <a:latin typeface="-webkit-standard"/>
              </a:rPr>
              <a:t>statlab</a:t>
            </a:r>
            <a:endParaRPr lang="en-US" sz="2800" dirty="0">
              <a:latin typeface="-webkit-standard"/>
            </a:endParaRPr>
          </a:p>
          <a:p>
            <a:endParaRPr lang="en-US" sz="2800" dirty="0">
              <a:latin typeface="-webkit-standard"/>
            </a:endParaRPr>
          </a:p>
          <a:p>
            <a:endParaRPr lang="en-US" sz="2800" dirty="0"/>
          </a:p>
        </p:txBody>
      </p:sp>
      <p:sp>
        <p:nvSpPr>
          <p:cNvPr id="12" name="TextBox 11">
            <a:extLst>
              <a:ext uri="{FF2B5EF4-FFF2-40B4-BE49-F238E27FC236}">
                <a16:creationId xmlns:a16="http://schemas.microsoft.com/office/drawing/2014/main" id="{024FD36E-9691-8FED-64C4-BCA6A758E349}"/>
              </a:ext>
            </a:extLst>
          </p:cNvPr>
          <p:cNvSpPr txBox="1"/>
          <p:nvPr/>
        </p:nvSpPr>
        <p:spPr>
          <a:xfrm>
            <a:off x="610283" y="617279"/>
            <a:ext cx="2865758" cy="923330"/>
          </a:xfrm>
          <a:prstGeom prst="rect">
            <a:avLst/>
          </a:prstGeom>
          <a:noFill/>
        </p:spPr>
        <p:txBody>
          <a:bodyPr wrap="square" rtlCol="0">
            <a:spAutoFit/>
          </a:bodyPr>
          <a:lstStyle/>
          <a:p>
            <a:r>
              <a:rPr lang="en-US" sz="5400" dirty="0" err="1">
                <a:solidFill>
                  <a:srgbClr val="0070C0"/>
                </a:solidFill>
              </a:rPr>
              <a:t>S</a:t>
            </a:r>
            <a:r>
              <a:rPr lang="en-US" sz="5400" dirty="0" err="1"/>
              <a:t>tatLab</a:t>
            </a:r>
            <a:endParaRPr lang="en-US" sz="5400" dirty="0"/>
          </a:p>
        </p:txBody>
      </p:sp>
      <p:pic>
        <p:nvPicPr>
          <p:cNvPr id="13" name="Picture 12">
            <a:extLst>
              <a:ext uri="{FF2B5EF4-FFF2-40B4-BE49-F238E27FC236}">
                <a16:creationId xmlns:a16="http://schemas.microsoft.com/office/drawing/2014/main" id="{73FEAA1F-6525-170D-3806-D730D74636D4}"/>
              </a:ext>
            </a:extLst>
          </p:cNvPr>
          <p:cNvPicPr>
            <a:picLocks noChangeAspect="1"/>
          </p:cNvPicPr>
          <p:nvPr/>
        </p:nvPicPr>
        <p:blipFill>
          <a:blip r:embed="rId4"/>
          <a:srcRect l="3093" r="16495" b="46956"/>
          <a:stretch>
            <a:fillRect/>
          </a:stretch>
        </p:blipFill>
        <p:spPr>
          <a:xfrm>
            <a:off x="7510071" y="1580000"/>
            <a:ext cx="4233536" cy="3697999"/>
          </a:xfrm>
          <a:prstGeom prst="rect">
            <a:avLst/>
          </a:prstGeom>
          <a:noFill/>
          <a:ln w="76200" cap="rnd">
            <a:solidFill>
              <a:schemeClr val="tx1">
                <a:lumMod val="50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219259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A5F8A0-2EE7-BEAA-D5BF-0FF210686A43}"/>
              </a:ext>
            </a:extLst>
          </p:cNvPr>
          <p:cNvSpPr txBox="1"/>
          <p:nvPr/>
        </p:nvSpPr>
        <p:spPr>
          <a:xfrm>
            <a:off x="1469036" y="2128603"/>
            <a:ext cx="8169639" cy="1723549"/>
          </a:xfrm>
          <a:prstGeom prst="rect">
            <a:avLst/>
          </a:prstGeom>
          <a:noFill/>
        </p:spPr>
        <p:txBody>
          <a:bodyPr wrap="square" rtlCol="0">
            <a:spAutoFit/>
          </a:bodyPr>
          <a:lstStyle/>
          <a:p>
            <a:r>
              <a:rPr lang="en-US" sz="4400" b="1" dirty="0">
                <a:latin typeface="+mj-lt"/>
              </a:rPr>
              <a:t>Appendix</a:t>
            </a:r>
          </a:p>
          <a:p>
            <a:r>
              <a:rPr lang="en-US" sz="4400" b="1" dirty="0">
                <a:latin typeface="+mj-lt"/>
              </a:rPr>
              <a:t>AI Prompt Examples</a:t>
            </a:r>
            <a:endParaRPr lang="en-US" sz="4400" dirty="0">
              <a:latin typeface="+mj-lt"/>
            </a:endParaRPr>
          </a:p>
          <a:p>
            <a:endParaRPr lang="en-US" dirty="0"/>
          </a:p>
        </p:txBody>
      </p:sp>
    </p:spTree>
    <p:extLst>
      <p:ext uri="{BB962C8B-B14F-4D97-AF65-F5344CB8AC3E}">
        <p14:creationId xmlns:p14="http://schemas.microsoft.com/office/powerpoint/2010/main" val="1267241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8085579-DB80-9A2A-2FB9-9B27168D8E04}"/>
              </a:ext>
            </a:extLst>
          </p:cNvPr>
          <p:cNvSpPr txBox="1"/>
          <p:nvPr/>
        </p:nvSpPr>
        <p:spPr>
          <a:xfrm>
            <a:off x="659565" y="1107877"/>
            <a:ext cx="9668657" cy="1477328"/>
          </a:xfrm>
          <a:prstGeom prst="rect">
            <a:avLst/>
          </a:prstGeom>
          <a:noFill/>
        </p:spPr>
        <p:txBody>
          <a:bodyPr wrap="square" rtlCol="0">
            <a:spAutoFit/>
          </a:bodyPr>
          <a:lstStyle/>
          <a:p>
            <a:r>
              <a:rPr lang="en-US" b="1" dirty="0"/>
              <a:t>1. Brainstorm topic &amp; source</a:t>
            </a:r>
          </a:p>
          <a:p>
            <a:r>
              <a:rPr lang="en-US" dirty="0"/>
              <a:t>"I want to do a text-analysis workshop using something locally relevant and free of content restrictions. Suggest 3–4 public, scrapeable text sources relating to Charlottesville community. For each, note whether it's likely server-rendered HTML and whether a </a:t>
            </a:r>
            <a:r>
              <a:rPr lang="en-US" dirty="0" err="1"/>
              <a:t>robots.txt</a:t>
            </a:r>
            <a:r>
              <a:rPr lang="en-US" dirty="0"/>
              <a:t> would allow scraping."</a:t>
            </a:r>
          </a:p>
          <a:p>
            <a:endParaRPr lang="en-US" dirty="0"/>
          </a:p>
        </p:txBody>
      </p:sp>
      <p:sp>
        <p:nvSpPr>
          <p:cNvPr id="7" name="TextBox 6">
            <a:extLst>
              <a:ext uri="{FF2B5EF4-FFF2-40B4-BE49-F238E27FC236}">
                <a16:creationId xmlns:a16="http://schemas.microsoft.com/office/drawing/2014/main" id="{965F4EE3-10D1-BBBF-0D90-D45584801188}"/>
              </a:ext>
            </a:extLst>
          </p:cNvPr>
          <p:cNvSpPr txBox="1"/>
          <p:nvPr/>
        </p:nvSpPr>
        <p:spPr>
          <a:xfrm>
            <a:off x="659565" y="2795468"/>
            <a:ext cx="9428813" cy="1477328"/>
          </a:xfrm>
          <a:prstGeom prst="rect">
            <a:avLst/>
          </a:prstGeom>
          <a:noFill/>
        </p:spPr>
        <p:txBody>
          <a:bodyPr wrap="square" rtlCol="0">
            <a:spAutoFit/>
          </a:bodyPr>
          <a:lstStyle/>
          <a:p>
            <a:r>
              <a:rPr lang="en-US" b="1" dirty="0"/>
              <a:t>2. Explore the content</a:t>
            </a:r>
          </a:p>
          <a:p>
            <a:r>
              <a:rPr lang="en-US" dirty="0"/>
              <a:t>"Here's the transcript of the Sept 2, 2025 Charlottesville City Council meeting Summarize the main topics, then identify the distinct discussion periods and who the key stakeholder groups are. Suggest 2–3 themes worth analyzing quantitatively."</a:t>
            </a:r>
          </a:p>
          <a:p>
            <a:endParaRPr lang="en-US" dirty="0"/>
          </a:p>
        </p:txBody>
      </p:sp>
      <p:sp>
        <p:nvSpPr>
          <p:cNvPr id="8" name="TextBox 7">
            <a:extLst>
              <a:ext uri="{FF2B5EF4-FFF2-40B4-BE49-F238E27FC236}">
                <a16:creationId xmlns:a16="http://schemas.microsoft.com/office/drawing/2014/main" id="{974623A0-DC45-5BC7-A097-1C6C6E587AE0}"/>
              </a:ext>
            </a:extLst>
          </p:cNvPr>
          <p:cNvSpPr txBox="1"/>
          <p:nvPr/>
        </p:nvSpPr>
        <p:spPr>
          <a:xfrm>
            <a:off x="659565" y="4549794"/>
            <a:ext cx="9428813" cy="1200329"/>
          </a:xfrm>
          <a:prstGeom prst="rect">
            <a:avLst/>
          </a:prstGeom>
          <a:noFill/>
        </p:spPr>
        <p:txBody>
          <a:bodyPr wrap="square" rtlCol="0">
            <a:spAutoFit/>
          </a:bodyPr>
          <a:lstStyle/>
          <a:p>
            <a:r>
              <a:rPr lang="en-US" b="1" dirty="0"/>
              <a:t>3. Scope the analysis</a:t>
            </a:r>
          </a:p>
          <a:p>
            <a:r>
              <a:rPr lang="en-US" dirty="0"/>
              <a:t>"This meeting covers many topics over 6 hours. I want to narrow to one theme, give me possible themes.” </a:t>
            </a:r>
          </a:p>
          <a:p>
            <a:endParaRPr lang="en-US" dirty="0"/>
          </a:p>
        </p:txBody>
      </p:sp>
    </p:spTree>
    <p:extLst>
      <p:ext uri="{BB962C8B-B14F-4D97-AF65-F5344CB8AC3E}">
        <p14:creationId xmlns:p14="http://schemas.microsoft.com/office/powerpoint/2010/main" val="2584304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50C133-68A1-A228-B64C-CC3AC55DD05B}"/>
              </a:ext>
            </a:extLst>
          </p:cNvPr>
          <p:cNvSpPr txBox="1"/>
          <p:nvPr/>
        </p:nvSpPr>
        <p:spPr>
          <a:xfrm>
            <a:off x="854438" y="693537"/>
            <a:ext cx="10028420" cy="1477328"/>
          </a:xfrm>
          <a:prstGeom prst="rect">
            <a:avLst/>
          </a:prstGeom>
          <a:noFill/>
        </p:spPr>
        <p:txBody>
          <a:bodyPr wrap="square" rtlCol="0">
            <a:spAutoFit/>
          </a:bodyPr>
          <a:lstStyle/>
          <a:p>
            <a:r>
              <a:rPr lang="en-US" b="1" dirty="0"/>
              <a:t>4. Search references (verify each one!)</a:t>
            </a:r>
          </a:p>
          <a:p>
            <a:r>
              <a:rPr lang="en-US" dirty="0"/>
              <a:t>"I'm comparing how stakeholder groups use language in a public-meeting transcript. Recommend peer-reviewed methods papers on relative word frequency, </a:t>
            </a:r>
            <a:r>
              <a:rPr lang="en-US" dirty="0" err="1"/>
              <a:t>keyness</a:t>
            </a:r>
            <a:r>
              <a:rPr lang="en-US" dirty="0"/>
              <a:t> (chi-squared), and sentiment lexicons for small corpora."</a:t>
            </a:r>
          </a:p>
          <a:p>
            <a:endParaRPr lang="en-US" dirty="0"/>
          </a:p>
        </p:txBody>
      </p:sp>
      <p:sp>
        <p:nvSpPr>
          <p:cNvPr id="3" name="TextBox 2">
            <a:extLst>
              <a:ext uri="{FF2B5EF4-FFF2-40B4-BE49-F238E27FC236}">
                <a16:creationId xmlns:a16="http://schemas.microsoft.com/office/drawing/2014/main" id="{C4A90B60-BEB9-463A-B63B-F5BBC79F0C55}"/>
              </a:ext>
            </a:extLst>
          </p:cNvPr>
          <p:cNvSpPr txBox="1"/>
          <p:nvPr/>
        </p:nvSpPr>
        <p:spPr>
          <a:xfrm>
            <a:off x="854438" y="2135306"/>
            <a:ext cx="10028419" cy="2308324"/>
          </a:xfrm>
          <a:prstGeom prst="rect">
            <a:avLst/>
          </a:prstGeom>
          <a:noFill/>
        </p:spPr>
        <p:txBody>
          <a:bodyPr wrap="square" rtlCol="0">
            <a:spAutoFit/>
          </a:bodyPr>
          <a:lstStyle/>
          <a:p>
            <a:r>
              <a:rPr lang="en-US" b="1" dirty="0"/>
              <a:t>5. Give AI context = your data structure (use screenshots or str())</a:t>
            </a:r>
          </a:p>
          <a:p>
            <a:r>
              <a:rPr lang="en-US" dirty="0"/>
              <a:t>"Here's the shape of my data [paste output of str(data) or a screenshot of head(data). </a:t>
            </a:r>
          </a:p>
          <a:p>
            <a:r>
              <a:rPr lang="en-US" dirty="0"/>
              <a:t>Keep this structure in mind for the code I ask for next."</a:t>
            </a:r>
          </a:p>
          <a:p>
            <a:endParaRPr lang="en-US" dirty="0"/>
          </a:p>
          <a:p>
            <a:r>
              <a:rPr lang="en-US" b="1" dirty="0"/>
              <a:t>Then ask for the code : “</a:t>
            </a:r>
            <a:r>
              <a:rPr lang="en-US" dirty="0"/>
              <a:t>The speaker column is a mix of real names ('Michael Kochis') and automatic labels ('SPEAKER_45'). Some rows have NA. Write a code: fill NA with the speaker label, replace any name with 'unidentified' (case-insensitive) with the speaker label, and otherwise keep the name."</a:t>
            </a:r>
          </a:p>
          <a:p>
            <a:endParaRPr lang="en-US" dirty="0"/>
          </a:p>
        </p:txBody>
      </p:sp>
      <p:sp>
        <p:nvSpPr>
          <p:cNvPr id="4" name="TextBox 3">
            <a:extLst>
              <a:ext uri="{FF2B5EF4-FFF2-40B4-BE49-F238E27FC236}">
                <a16:creationId xmlns:a16="http://schemas.microsoft.com/office/drawing/2014/main" id="{A8A29757-8ACC-962A-49C1-0F08A5F1BCB4}"/>
              </a:ext>
            </a:extLst>
          </p:cNvPr>
          <p:cNvSpPr txBox="1"/>
          <p:nvPr/>
        </p:nvSpPr>
        <p:spPr>
          <a:xfrm>
            <a:off x="854437" y="4408071"/>
            <a:ext cx="9698635" cy="1477328"/>
          </a:xfrm>
          <a:prstGeom prst="rect">
            <a:avLst/>
          </a:prstGeom>
          <a:noFill/>
        </p:spPr>
        <p:txBody>
          <a:bodyPr wrap="square" rtlCol="0">
            <a:spAutoFit/>
          </a:bodyPr>
          <a:lstStyle/>
          <a:p>
            <a:r>
              <a:rPr lang="en-US" b="1" dirty="0"/>
              <a:t>6. Ask specifically</a:t>
            </a:r>
          </a:p>
          <a:p>
            <a:r>
              <a:rPr lang="en-US" b="1" dirty="0"/>
              <a:t>Vague: </a:t>
            </a:r>
            <a:r>
              <a:rPr lang="en-US" dirty="0"/>
              <a:t>“Analyze this transcript.”</a:t>
            </a:r>
          </a:p>
          <a:p>
            <a:r>
              <a:rPr lang="en-US" b="1" dirty="0"/>
              <a:t>Precise: </a:t>
            </a:r>
            <a:r>
              <a:rPr lang="en-US" dirty="0"/>
              <a:t>“Compare the four stakeholder groups in this City Council transcript. Identify differences in relative word frequency, key terms, and sentiment, and summarize the main patterns.”</a:t>
            </a:r>
          </a:p>
          <a:p>
            <a:endParaRPr lang="en-US" dirty="0"/>
          </a:p>
        </p:txBody>
      </p:sp>
    </p:spTree>
    <p:extLst>
      <p:ext uri="{BB962C8B-B14F-4D97-AF65-F5344CB8AC3E}">
        <p14:creationId xmlns:p14="http://schemas.microsoft.com/office/powerpoint/2010/main" val="38864582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74251B-B634-A352-2B85-AEED40F6611E}"/>
              </a:ext>
            </a:extLst>
          </p:cNvPr>
          <p:cNvSpPr txBox="1"/>
          <p:nvPr/>
        </p:nvSpPr>
        <p:spPr>
          <a:xfrm>
            <a:off x="1409073" y="729735"/>
            <a:ext cx="8529404" cy="923330"/>
          </a:xfrm>
          <a:prstGeom prst="rect">
            <a:avLst/>
          </a:prstGeom>
          <a:noFill/>
        </p:spPr>
        <p:txBody>
          <a:bodyPr wrap="square" rtlCol="0">
            <a:spAutoFit/>
          </a:bodyPr>
          <a:lstStyle/>
          <a:p>
            <a:r>
              <a:rPr lang="en-US" b="1" dirty="0"/>
              <a:t>7. Troubleshooting (feed code + output together)</a:t>
            </a:r>
          </a:p>
          <a:p>
            <a:r>
              <a:rPr lang="en-US" dirty="0"/>
              <a:t>"[Screenshot of my </a:t>
            </a:r>
            <a:r>
              <a:rPr lang="en-US" dirty="0" err="1"/>
              <a:t>unnest_tokens</a:t>
            </a:r>
            <a:r>
              <a:rPr lang="en-US" dirty="0"/>
              <a:t> code AND the error/output below it.] fix it.</a:t>
            </a:r>
          </a:p>
          <a:p>
            <a:endParaRPr lang="en-US" dirty="0"/>
          </a:p>
        </p:txBody>
      </p:sp>
      <p:sp>
        <p:nvSpPr>
          <p:cNvPr id="3" name="TextBox 2">
            <a:extLst>
              <a:ext uri="{FF2B5EF4-FFF2-40B4-BE49-F238E27FC236}">
                <a16:creationId xmlns:a16="http://schemas.microsoft.com/office/drawing/2014/main" id="{AA9A1A93-D8EC-22C5-CD22-902D080FE664}"/>
              </a:ext>
            </a:extLst>
          </p:cNvPr>
          <p:cNvSpPr txBox="1"/>
          <p:nvPr/>
        </p:nvSpPr>
        <p:spPr>
          <a:xfrm>
            <a:off x="1409073" y="1653065"/>
            <a:ext cx="8259581" cy="2031325"/>
          </a:xfrm>
          <a:prstGeom prst="rect">
            <a:avLst/>
          </a:prstGeom>
          <a:noFill/>
        </p:spPr>
        <p:txBody>
          <a:bodyPr wrap="square" rtlCol="0">
            <a:spAutoFit/>
          </a:bodyPr>
          <a:lstStyle/>
          <a:p>
            <a:r>
              <a:rPr lang="en-US" b="1" dirty="0"/>
              <a:t>8. Understand the code </a:t>
            </a:r>
            <a:r>
              <a:rPr lang="en-US" dirty="0"/>
              <a:t>"Here's my full tokenizing script [paste the code block]. Walk me through what each line does, especially </a:t>
            </a:r>
            <a:r>
              <a:rPr lang="en-US" dirty="0" err="1"/>
              <a:t>anti_join</a:t>
            </a:r>
            <a:r>
              <a:rPr lang="en-US" dirty="0"/>
              <a:t>(</a:t>
            </a:r>
            <a:r>
              <a:rPr lang="en-US" dirty="0" err="1"/>
              <a:t>stop_words</a:t>
            </a:r>
            <a:r>
              <a:rPr lang="en-US" dirty="0"/>
              <a:t>), the filter(</a:t>
            </a:r>
            <a:r>
              <a:rPr lang="en-US" dirty="0" err="1"/>
              <a:t>str_detect</a:t>
            </a:r>
            <a:r>
              <a:rPr lang="en-US" dirty="0"/>
              <a:t>(word, "^[a-z]+$")), and why </a:t>
            </a:r>
            <a:r>
              <a:rPr lang="en-US" dirty="0" err="1"/>
              <a:t>case_when</a:t>
            </a:r>
            <a:r>
              <a:rPr lang="en-US" dirty="0"/>
              <a:t>() is used to collapse 'visitor'/'visitors’.”</a:t>
            </a:r>
          </a:p>
          <a:p>
            <a:r>
              <a:rPr lang="en-US" b="1" dirty="0"/>
              <a:t>Or focus part on one part you don’t understand more specifically</a:t>
            </a:r>
          </a:p>
          <a:p>
            <a:r>
              <a:rPr lang="en-US" dirty="0"/>
              <a:t>"Give me an example of what </a:t>
            </a:r>
            <a:r>
              <a:rPr lang="en-US" dirty="0" err="1"/>
              <a:t>reorder_within</a:t>
            </a:r>
            <a:r>
              <a:rPr lang="en-US" dirty="0"/>
              <a:t>() does to a two-group dataset — show the before and after."</a:t>
            </a:r>
          </a:p>
        </p:txBody>
      </p:sp>
      <p:sp>
        <p:nvSpPr>
          <p:cNvPr id="4" name="TextBox 3">
            <a:extLst>
              <a:ext uri="{FF2B5EF4-FFF2-40B4-BE49-F238E27FC236}">
                <a16:creationId xmlns:a16="http://schemas.microsoft.com/office/drawing/2014/main" id="{4FB43BE0-33CB-F4FD-EA46-975DEE048CB2}"/>
              </a:ext>
            </a:extLst>
          </p:cNvPr>
          <p:cNvSpPr txBox="1"/>
          <p:nvPr/>
        </p:nvSpPr>
        <p:spPr>
          <a:xfrm>
            <a:off x="1409073" y="5348934"/>
            <a:ext cx="8994098" cy="923330"/>
          </a:xfrm>
          <a:prstGeom prst="rect">
            <a:avLst/>
          </a:prstGeom>
          <a:noFill/>
        </p:spPr>
        <p:txBody>
          <a:bodyPr wrap="square" rtlCol="0">
            <a:spAutoFit/>
          </a:bodyPr>
          <a:lstStyle/>
          <a:p>
            <a:r>
              <a:rPr lang="en-US" b="1" dirty="0"/>
              <a:t>10. Polish the writing (keep your voice) </a:t>
            </a:r>
          </a:p>
          <a:p>
            <a:r>
              <a:rPr lang="en-US" dirty="0"/>
              <a:t>"Here's my interpretation paragraph for the relative-frequency chart [paste your draft]. Tighten the wording and fix flow, but keep my argument and voice” and fact check.</a:t>
            </a:r>
          </a:p>
        </p:txBody>
      </p:sp>
      <p:sp>
        <p:nvSpPr>
          <p:cNvPr id="5" name="TextBox 4">
            <a:extLst>
              <a:ext uri="{FF2B5EF4-FFF2-40B4-BE49-F238E27FC236}">
                <a16:creationId xmlns:a16="http://schemas.microsoft.com/office/drawing/2014/main" id="{F5F0463E-0D61-2A9C-EB3F-FE7D42F23F72}"/>
              </a:ext>
            </a:extLst>
          </p:cNvPr>
          <p:cNvSpPr txBox="1"/>
          <p:nvPr/>
        </p:nvSpPr>
        <p:spPr>
          <a:xfrm>
            <a:off x="1409073" y="3871606"/>
            <a:ext cx="8994097" cy="1477328"/>
          </a:xfrm>
          <a:prstGeom prst="rect">
            <a:avLst/>
          </a:prstGeom>
          <a:noFill/>
        </p:spPr>
        <p:txBody>
          <a:bodyPr wrap="square" rtlCol="0">
            <a:spAutoFit/>
          </a:bodyPr>
          <a:lstStyle/>
          <a:p>
            <a:r>
              <a:rPr lang="en-US" b="1" dirty="0"/>
              <a:t>9. Visualization (which chart fits)</a:t>
            </a:r>
          </a:p>
          <a:p>
            <a:r>
              <a:rPr lang="en-US" dirty="0"/>
              <a:t>"I have three per-group measures — number of speakers, turns per person, and median words per turn — for four stakeholder groups. What chart type best shows all three at once for comparison across groups?"</a:t>
            </a:r>
          </a:p>
          <a:p>
            <a:endParaRPr lang="en-US" dirty="0"/>
          </a:p>
        </p:txBody>
      </p:sp>
    </p:spTree>
    <p:extLst>
      <p:ext uri="{BB962C8B-B14F-4D97-AF65-F5344CB8AC3E}">
        <p14:creationId xmlns:p14="http://schemas.microsoft.com/office/powerpoint/2010/main" val="1172271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5B26E5-B99B-CE0D-B7E3-8987FF06B6D2}"/>
              </a:ext>
            </a:extLst>
          </p:cNvPr>
          <p:cNvSpPr txBox="1"/>
          <p:nvPr/>
        </p:nvSpPr>
        <p:spPr>
          <a:xfrm>
            <a:off x="1229193" y="1139252"/>
            <a:ext cx="8874177" cy="1244184"/>
          </a:xfrm>
          <a:prstGeom prst="rect">
            <a:avLst/>
          </a:prstGeom>
          <a:noFill/>
        </p:spPr>
        <p:txBody>
          <a:bodyPr wrap="square" rtlCol="0">
            <a:spAutoFit/>
          </a:bodyPr>
          <a:lstStyle/>
          <a:p>
            <a:r>
              <a:rPr lang="en-US" b="1" dirty="0"/>
              <a:t>11. Manage citations</a:t>
            </a:r>
          </a:p>
          <a:p>
            <a:r>
              <a:rPr lang="en-US" dirty="0"/>
              <a:t>”Citate these three references to APA 7th edition, then give me the same list in Chicago author-date. Sort each list alphabetically by author surname."</a:t>
            </a:r>
          </a:p>
          <a:p>
            <a:endParaRPr lang="en-US" dirty="0"/>
          </a:p>
        </p:txBody>
      </p:sp>
    </p:spTree>
    <p:extLst>
      <p:ext uri="{BB962C8B-B14F-4D97-AF65-F5344CB8AC3E}">
        <p14:creationId xmlns:p14="http://schemas.microsoft.com/office/powerpoint/2010/main" val="1913926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581</TotalTime>
  <Words>1829</Words>
  <Application>Microsoft Macintosh PowerPoint</Application>
  <PresentationFormat>Widescreen</PresentationFormat>
  <Paragraphs>200</Paragraphs>
  <Slides>26</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-webkit-standard</vt:lpstr>
      <vt:lpstr>Arial,Sans-Serif</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Lucy Hong &amp; Hyeseon Seo</dc:creator>
  <cp:lastModifiedBy>Seo, Hyeseon (yxt7pg)</cp:lastModifiedBy>
  <cp:revision>38</cp:revision>
  <dcterms:created xsi:type="dcterms:W3CDTF">2026-09-14T01:34:51Z</dcterms:created>
  <dcterms:modified xsi:type="dcterms:W3CDTF">2026-09-15T19:43:10Z</dcterms:modified>
</cp:coreProperties>
</file>